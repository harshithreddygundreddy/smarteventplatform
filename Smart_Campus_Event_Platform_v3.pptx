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3"/>
  </p:notesMasterIdLst>
  <p:sldIdLst>
    <p:sldId id="256" r:id="rId5"/>
    <p:sldId id="1249" r:id="rId6"/>
    <p:sldId id="1085" r:id="rId7"/>
    <p:sldId id="352" r:id="rId8"/>
    <p:sldId id="1251" r:id="rId9"/>
    <p:sldId id="1253" r:id="rId10"/>
    <p:sldId id="1254" r:id="rId11"/>
    <p:sldId id="1256" r:id="rId227"/>
    <p:sldId id="1257" r:id="rId228"/>
    <p:sldId id="1258" r:id="rId229"/>
    <p:sldId id="1259" r:id="rId230"/>
    <p:sldId id="1255" r:id="rId12"/>
  </p:sldIdLst>
  <p:sldSz cx="12192000" cy="6858000"/>
  <p:notesSz cx="6858000" cy="9144000"/>
  <p:custDataLst>
    <p:tags r:id="rId1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84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403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FF"/>
    <a:srgbClr val="FFE500"/>
    <a:srgbClr val="B9D0FF"/>
    <a:srgbClr val="034977"/>
    <a:srgbClr val="023558"/>
    <a:srgbClr val="045890"/>
    <a:srgbClr val="0000FF"/>
    <a:srgbClr val="EDE2EE"/>
    <a:srgbClr val="1B35B5"/>
    <a:srgbClr val="667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8" dt="2026-09-30T12:07:40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97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784"/>
        <p:guide pos="192"/>
        <p:guide orient="horz" pos="1080"/>
        <p:guide orient="horz" pos="2160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Relationship Id="rId223" Type="http://schemas.openxmlformats.org/officeDocument/2006/relationships/theme" Target="theme/theme1.xml"/>  <Relationship Id="rId227" Type="http://schemas.openxmlformats.org/officeDocument/2006/relationships/slide" Target="slides/slide9.xml"/>
  <Relationship Id="rId228" Type="http://schemas.openxmlformats.org/officeDocument/2006/relationships/slide" Target="slides/slide10.xml"/>
  <Relationship Id="rId229" Type="http://schemas.openxmlformats.org/officeDocument/2006/relationships/slide" Target="slides/slide11.xml"/>
  <Relationship Id="rId230" Type="http://schemas.openxmlformats.org/officeDocument/2006/relationships/slide" Target="slides/slide12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Shekhar" userId="S::shashank@edunetfoundation.org::0008d1ff-90e7-469a-9966-0dcad996503d" providerId="AD" clId="Web-{00000000-0000-0000-0000-000000000000}"/>
    <pc:docChg chg="modSld">
      <pc:chgData name="Shashank Shekhar" userId="S::shashank@edunetfoundation.org::0008d1ff-90e7-469a-9966-0dcad996503d" providerId="AD" clId="Web-{00000000-0000-0000-0000-000000000000}" dt="2026-09-30T12:07:40.188" v="21" actId="20577"/>
      <pc:docMkLst>
        <pc:docMk/>
      </pc:docMkLst>
      <pc:sldChg chg="modSp">
        <pc:chgData name="Shashank Shekhar" userId="S::shashank@edunetfoundation.org::0008d1ff-90e7-469a-9966-0dcad996503d" providerId="AD" clId="Web-{00000000-0000-0000-0000-000000000000}" dt="2026-09-30T12:07:40.188" v="21" actId="20577"/>
        <pc:sldMkLst>
          <pc:docMk/>
          <pc:sldMk cId="0" sldId="256"/>
        </pc:sldMkLst>
        <pc:spChg chg="mod">
          <ac:chgData name="Shashank Shekhar" userId="S::shashank@edunetfoundation.org::0008d1ff-90e7-469a-9966-0dcad996503d" providerId="AD" clId="Web-{00000000-0000-0000-0000-000000000000}" dt="2026-09-30T12:07:40.188" v="21" actId="20577"/>
          <ac:spMkLst>
            <pc:docMk/>
            <pc:sldMk cId="0" sldId="256"/>
            <ac:spMk id="8" creationId="{1CFAFDC7-5FD4-AA0C-2C85-1B59ED6CD7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Speaker would be briefing the students that this content has been prepared for the educational purpose only and is referred from multiple sites which are cited in the last.</a:t>
            </a:r>
            <a:r>
              <a:rPr lang="en-IN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---------------------------------------------------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A disclaimer is a statement or notice that is intended to clarify, limit, or provide information about the scope, limitations, or potential risks associated with certain actions, information, products, services, or content. 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07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Introduce the project title: Smart Campus Event Platform.</a:t>
            </a:r>
          </a:p>
          <a:p>
            <a:pPr marL="0" indent="0">
              <a:buNone/>
            </a:pPr>
            <a:r>
              <a:rPr lang="en-US"/>
              <a:t>One line pitch: a single web platform to discover, register for, attend and review campus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187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Walk through the agenda: problem, overview, solution, technology, system design and results, conclusion and references.</a:t>
            </a:r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8CA52B4-AFE7-436D-10A5-33BBC2F8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0EAD850-4C0A-4D1F-54F8-C5F959A15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Explain the four pain points: scattered information, manual registration, no attendance tracking, and no feedback or insights.</a:t>
            </a:r>
          </a:p>
          <a:p>
            <a:pPr marL="0" indent="0">
              <a:buNone/>
            </a:pPr>
            <a:r>
              <a:rPr lang="en-US"/>
              <a:t>Use a real example from your own campus, such as a fest or workshop that few people knew about.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11DB8B2-672C-460F-29D3-0F2797996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4303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E1FC1B1-B44F-F795-8CE0-8A1E5FA3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6FCACB7-6330-511A-DC41-2FCC5B286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Objective: one unified platform for the whole event lifecycle.</a:t>
            </a:r>
          </a:p>
          <a:p>
            <a:pPr marL="0" indent="0">
              <a:buNone/>
            </a:pPr>
            <a:r>
              <a:rPr lang="en-US"/>
              <a:t>Cover the three user roles: students discover and register, organizers create and track, administrators approve and analyse.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3B2F108-3E8E-8CB3-D39C-2E5E2EE72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153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76A3C39-E505-849D-072B-5A72E5B2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4CA75921-0A6B-4147-FFE3-27787B5DA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Describe the four-step flow: discover, register, attend, feedback.</a:t>
            </a:r>
          </a:p>
          <a:p>
            <a:pPr marL="0" indent="0">
              <a:buNone/>
            </a:pPr>
            <a:r>
              <a:rPr lang="en-US"/>
              <a:t>Then explain the AI add-ons: recommendations, chatbot and clash-free scheduling.</a:t>
            </a:r>
          </a:p>
          <a:p>
            <a:pPr marL="0" indent="0">
              <a:buNone/>
            </a:pPr>
            <a:r>
              <a:rPr lang="en-US"/>
              <a:t>Note that the AI features are enhancements built after the core platform works.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F44E0A6D-AE05-66D4-3151-9ADBBF817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2352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89DB2EC-5E59-1C9C-B257-47839B4E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21CF6DE-F83D-DF02-0EA6-49693349C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List the documentation used for the technologies in this project.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8D50153A-7825-FF11-BF01-858C9847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0307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Welcome the audience and introduce the team, the college and the Next Gen Employability Program.</a:t>
            </a:r>
          </a:p>
          <a:p>
            <a:pPr marL="0" indent="0">
              <a:buNone/>
            </a:pPr>
            <a:r>
              <a:rPr lang="en-US"/>
              <a:t>State the project name: Smart Campus Event Platform.</a:t>
            </a:r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Frontend: React. Backend: Java 17 with Spring Boot. Database: MySQL.</a:t>
            </a:r>
          </a:p>
          <a:p>
            <a:pPr marL="0" indent="0">
              <a:buNone/>
            </a:pPr>
            <a:r>
              <a:rPr lang="en-US"/>
              <a:t>Security: Spring Security with JWT and role-based access.</a:t>
            </a:r>
          </a:p>
          <a:p>
            <a:pPr marL="0" indent="0">
              <a:buNone/>
            </a:pPr>
            <a:r>
              <a:rPr lang="en-US"/>
              <a:t>AI services: a content-based recommender and an LLM chatbot exposed over REST. Tools: Git, Maven, Postman, Docker.</a:t>
            </a:r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Walk left to right: users, React web client, Spring Boot REST API, MySQL database.</a:t>
            </a:r>
          </a:p>
          <a:p>
            <a:pPr marL="0" indent="0">
              <a:buNone/>
            </a:pPr>
            <a:r>
              <a:rPr lang="en-US"/>
              <a:t>Below the API sit the supporting services: AI recommender/chatbot and email or SMS notifications.</a:t>
            </a:r>
          </a:p>
          <a:p>
            <a:pPr marL="0" indent="0">
              <a:buNone/>
            </a:pPr>
            <a:r>
              <a:rPr lang="en-US"/>
              <a:t>Mention the layered MVC design and stateless JWT security.</a:t>
            </a:r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This slide compares the manual process today with the expected outcome of the platform.</a:t>
            </a:r>
          </a:p>
          <a:p>
            <a:pPr marL="0" indent="0">
              <a:buNone/>
            </a:pPr>
            <a:r>
              <a:rPr lang="en-US"/>
              <a:t>These are design goals. Replace or extend with measured results (registrations, check-ins, feedback response rate) once the prototype is tested.</a:t>
            </a:r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Summarise: one platform for the full event lifecycle, less manual work, one reliable place for students.</a:t>
            </a:r>
          </a:p>
          <a:p>
            <a:pPr marL="0" indent="0">
              <a:buNone/>
            </a:pPr>
            <a:r>
              <a:rPr lang="en-US"/>
              <a:t>Close with future scope: mobile app, ERP integration, e-certificates and predictive analytics.</a:t>
            </a:r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97814" y="126596"/>
            <a:ext cx="1748776" cy="58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a red and blue line&#10;&#10;Description automatically generated">
            <a:extLst>
              <a:ext uri="{FF2B5EF4-FFF2-40B4-BE49-F238E27FC236}">
                <a16:creationId xmlns:a16="http://schemas.microsoft.com/office/drawing/2014/main" id="{9CA50098-7D03-1836-41AA-E168C007D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82037" b="14815"/>
          <a:stretch/>
        </p:blipFill>
        <p:spPr>
          <a:xfrm>
            <a:off x="0" y="6743065"/>
            <a:ext cx="12192000" cy="137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AFEAB-13E2-B4AA-FD33-8FE461808E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0464800" cy="666750"/>
          </a:xfrm>
          <a:prstGeom prst="rect">
            <a:avLst/>
          </a:prstGeom>
        </p:spPr>
      </p:pic>
      <p:pic>
        <p:nvPicPr>
          <p:cNvPr id="20" name="Picture 19" descr="A black screen with red and blue stripes&#10;&#10;Description automatically generated">
            <a:extLst>
              <a:ext uri="{FF2B5EF4-FFF2-40B4-BE49-F238E27FC236}">
                <a16:creationId xmlns:a16="http://schemas.microsoft.com/office/drawing/2014/main" id="{11971837-D8B7-1C36-5140-3CE05FA77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94963"/>
          <a:stretch/>
        </p:blipFill>
        <p:spPr>
          <a:xfrm>
            <a:off x="0" y="6522720"/>
            <a:ext cx="12192000" cy="34544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14" r:id="rId2"/>
    <p:sldLayoutId id="214748372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0" Type="http://schemas.openxmlformats.org/officeDocument/2006/relationships/notesSlide" Target="../notesSlides/notes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hyperlink" Target="https://spring.io/projects/spring-boot" TargetMode="External"/><Relationship Id="rId5" Type="http://schemas.openxmlformats.org/officeDocument/2006/relationships/hyperlink" Target="https://docs.spring.io/spring-security/reference/" TargetMode="External"/><Relationship Id="rId6" Type="http://schemas.openxmlformats.org/officeDocument/2006/relationships/hyperlink" Target="https://react.dev/" TargetMode="External"/><Relationship Id="rId7" Type="http://schemas.openxmlformats.org/officeDocument/2006/relationships/hyperlink" Target="https://dev.mysql.com/doc/" TargetMode="External"/><Relationship Id="rId8" Type="http://schemas.openxmlformats.org/officeDocument/2006/relationships/hyperlink" Target="https://jwt.io/introduction" TargetMode="Externa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90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9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90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9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1970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3" name="Freeform 3"/>
          <p:cNvSpPr/>
          <p:nvPr/>
        </p:nvSpPr>
        <p:spPr>
          <a:xfrm>
            <a:off x="0" y="6660927"/>
            <a:ext cx="12192001" cy="197073"/>
          </a:xfrm>
          <a:custGeom>
            <a:avLst/>
            <a:gdLst/>
            <a:ahLst/>
            <a:cxnLst/>
            <a:rect l="l" t="t" r="r" b="b"/>
            <a:pathLst>
              <a:path w="17979397" h="921444">
                <a:moveTo>
                  <a:pt x="0" y="0"/>
                </a:moveTo>
                <a:lnTo>
                  <a:pt x="17979397" y="0"/>
                </a:lnTo>
                <a:lnTo>
                  <a:pt x="17979397" y="921444"/>
                </a:lnTo>
                <a:lnTo>
                  <a:pt x="0" y="921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4" name="Freeform 4"/>
          <p:cNvSpPr/>
          <p:nvPr/>
        </p:nvSpPr>
        <p:spPr>
          <a:xfrm flipV="1">
            <a:off x="0" y="4401147"/>
            <a:ext cx="2529579" cy="2456853"/>
          </a:xfrm>
          <a:custGeom>
            <a:avLst/>
            <a:gdLst/>
            <a:ahLst/>
            <a:cxnLst/>
            <a:rect l="l" t="t" r="r" b="b"/>
            <a:pathLst>
              <a:path w="3794368" h="3685280">
                <a:moveTo>
                  <a:pt x="0" y="3685280"/>
                </a:moveTo>
                <a:lnTo>
                  <a:pt x="3794368" y="3685280"/>
                </a:lnTo>
                <a:lnTo>
                  <a:pt x="3794368" y="0"/>
                </a:lnTo>
                <a:lnTo>
                  <a:pt x="0" y="0"/>
                </a:lnTo>
                <a:lnTo>
                  <a:pt x="0" y="368528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5" name="Freeform 5"/>
          <p:cNvSpPr/>
          <p:nvPr/>
        </p:nvSpPr>
        <p:spPr>
          <a:xfrm flipH="1">
            <a:off x="5301756" y="0"/>
            <a:ext cx="6890244" cy="6692149"/>
          </a:xfrm>
          <a:custGeom>
            <a:avLst/>
            <a:gdLst/>
            <a:ahLst/>
            <a:cxnLst/>
            <a:rect l="l" t="t" r="r" b="b"/>
            <a:pathLst>
              <a:path w="10335366" h="10038224">
                <a:moveTo>
                  <a:pt x="10335366" y="0"/>
                </a:moveTo>
                <a:lnTo>
                  <a:pt x="0" y="0"/>
                </a:lnTo>
                <a:lnTo>
                  <a:pt x="0" y="10038224"/>
                </a:lnTo>
                <a:lnTo>
                  <a:pt x="10335366" y="10038224"/>
                </a:lnTo>
                <a:lnTo>
                  <a:pt x="1033536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grpSp>
        <p:nvGrpSpPr>
          <p:cNvPr id="6" name="Group 6"/>
          <p:cNvGrpSpPr/>
          <p:nvPr/>
        </p:nvGrpSpPr>
        <p:grpSpPr>
          <a:xfrm>
            <a:off x="6007852" y="391844"/>
            <a:ext cx="6074313" cy="6074312"/>
            <a:chOff x="-188667" y="-69445"/>
            <a:chExt cx="1507375" cy="1507374"/>
          </a:xfrm>
        </p:grpSpPr>
        <p:sp>
          <p:nvSpPr>
            <p:cNvPr id="7" name="Freeform 7"/>
            <p:cNvSpPr/>
            <p:nvPr/>
          </p:nvSpPr>
          <p:spPr>
            <a:xfrm>
              <a:off x="-188667" y="-69445"/>
              <a:ext cx="1507375" cy="1507374"/>
            </a:xfrm>
            <a:prstGeom prst="ellipse">
              <a:avLst/>
            </a:prstGeom>
            <a:blipFill>
              <a:blip r:embed="rId5"/>
              <a:srcRect/>
              <a:stretch>
                <a:fillRect l="-78487" t="-9550" b="-9550"/>
              </a:stretch>
            </a:blipFill>
          </p:spPr>
          <p:txBody>
            <a:bodyPr/>
            <a:lstStyle/>
            <a:p>
              <a:endParaRPr lang="en-IN" sz="1245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FAFDC7-5FD4-AA0C-2C85-1B59ED6CD792}"/>
              </a:ext>
            </a:extLst>
          </p:cNvPr>
          <p:cNvSpPr txBox="1"/>
          <p:nvPr/>
        </p:nvSpPr>
        <p:spPr>
          <a:xfrm>
            <a:off x="358892" y="2584502"/>
            <a:ext cx="564895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23558"/>
                </a:solidFill>
                <a:latin typeface="+mj-lt"/>
              </a:rPr>
              <a:t>Java Full Stack &amp; AI Engineering</a:t>
            </a: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4F00DD0-EB7B-EBC0-7FBE-8E865107A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61" y="388408"/>
            <a:ext cx="1926070" cy="626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B315E8-A49C-3C13-082D-0A9135A687F9}"/>
              </a:ext>
            </a:extLst>
          </p:cNvPr>
          <p:cNvSpPr txBox="1"/>
          <p:nvPr/>
        </p:nvSpPr>
        <p:spPr>
          <a:xfrm>
            <a:off x="992572" y="4519689"/>
            <a:ext cx="42734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i="1" dirty="0">
                <a:solidFill>
                  <a:srgbClr val="023558"/>
                </a:solidFill>
              </a:rPr>
              <a:t>Presented by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10590-615E-A8EC-A0AB-F60F9F138367}"/>
              </a:ext>
            </a:extLst>
          </p:cNvPr>
          <p:cNvSpPr txBox="1"/>
          <p:nvPr/>
        </p:nvSpPr>
        <p:spPr>
          <a:xfrm>
            <a:off x="1879600" y="4880000"/>
            <a:ext cx="2500000" cy="115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023558"/>
                </a:solidFill>
              </a:rPr>
              <a:t>Harshith Reddy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Gowtham Varma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Abhishek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Bhanu Sathyam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Vinay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686482-2ABD-404B-4ABA-CEB96E4AB9C1}"/>
              </a:ext>
            </a:extLst>
          </p:cNvPr>
          <p:cNvGrpSpPr/>
          <p:nvPr/>
        </p:nvGrpSpPr>
        <p:grpSpPr>
          <a:xfrm>
            <a:off x="995345" y="1645077"/>
            <a:ext cx="4588472" cy="742352"/>
            <a:chOff x="1283711" y="1438666"/>
            <a:chExt cx="4588472" cy="74235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615D82-5CB2-52DA-0B05-5FE8B54D042E}"/>
                </a:ext>
              </a:extLst>
            </p:cNvPr>
            <p:cNvSpPr/>
            <p:nvPr/>
          </p:nvSpPr>
          <p:spPr>
            <a:xfrm>
              <a:off x="1283711" y="1438666"/>
              <a:ext cx="4588472" cy="742352"/>
            </a:xfrm>
            <a:prstGeom prst="roundRect">
              <a:avLst/>
            </a:prstGeom>
            <a:solidFill>
              <a:srgbClr val="0349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CEE186-AA2C-A9BA-A43A-D62A437771F7}"/>
                </a:ext>
              </a:extLst>
            </p:cNvPr>
            <p:cNvSpPr txBox="1"/>
            <p:nvPr/>
          </p:nvSpPr>
          <p:spPr>
            <a:xfrm>
              <a:off x="1441240" y="1609787"/>
              <a:ext cx="427341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E500"/>
                  </a:solidFill>
                </a:rPr>
                <a:t>Next Gen Employability Program</a:t>
              </a:r>
              <a:endParaRPr lang="en-US" dirty="0">
                <a:solidFill>
                  <a:srgbClr val="FFE5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3A782A-5355-03DB-CA26-A3A3D607DA31}"/>
              </a:ext>
            </a:extLst>
          </p:cNvPr>
          <p:cNvGrpSpPr/>
          <p:nvPr/>
        </p:nvGrpSpPr>
        <p:grpSpPr>
          <a:xfrm>
            <a:off x="1894840" y="1516840"/>
            <a:ext cx="8402320" cy="4033672"/>
            <a:chOff x="2159836" y="1516840"/>
            <a:chExt cx="8402320" cy="40336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7C8318-501A-300C-1586-3487E06F1253}"/>
                </a:ext>
              </a:extLst>
            </p:cNvPr>
            <p:cNvGrpSpPr/>
            <p:nvPr/>
          </p:nvGrpSpPr>
          <p:grpSpPr>
            <a:xfrm>
              <a:off x="2159836" y="1608432"/>
              <a:ext cx="8402320" cy="3942080"/>
              <a:chOff x="2159836" y="1457960"/>
              <a:chExt cx="8402320" cy="394208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88D108B-EC8D-6B85-5F57-F9D19D5681C4}"/>
                  </a:ext>
                </a:extLst>
              </p:cNvPr>
              <p:cNvSpPr/>
              <p:nvPr/>
            </p:nvSpPr>
            <p:spPr>
              <a:xfrm>
                <a:off x="2159836" y="1457960"/>
                <a:ext cx="8402320" cy="3942080"/>
              </a:xfrm>
              <a:prstGeom prst="roundRect">
                <a:avLst>
                  <a:gd name="adj" fmla="val 10997"/>
                </a:avLst>
              </a:prstGeom>
              <a:solidFill>
                <a:srgbClr val="0349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97845F-F959-88CB-A4ED-3AA0360C1A9D}"/>
                  </a:ext>
                </a:extLst>
              </p:cNvPr>
              <p:cNvSpPr txBox="1"/>
              <p:nvPr/>
            </p:nvSpPr>
            <p:spPr>
              <a:xfrm>
                <a:off x="2159836" y="4391210"/>
                <a:ext cx="84023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E500"/>
                    </a:solidFill>
                  </a:rPr>
                  <a:t>The content is curated from online/offline resources and used for educational purpose only.</a:t>
                </a:r>
              </a:p>
            </p:txBody>
          </p:sp>
        </p:grpSp>
        <p:pic>
          <p:nvPicPr>
            <p:cNvPr id="8" name="Picture 7" descr="A blue sign with black background&#10;&#10;AI-generated content may be incorrect.">
              <a:extLst>
                <a:ext uri="{FF2B5EF4-FFF2-40B4-BE49-F238E27FC236}">
                  <a16:creationId xmlns:a16="http://schemas.microsoft.com/office/drawing/2014/main" id="{43BB6327-B30A-E013-C8DA-976B9EC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324" t="20721" r="6756" b="23454"/>
            <a:stretch>
              <a:fillRect/>
            </a:stretch>
          </p:blipFill>
          <p:spPr>
            <a:xfrm>
              <a:off x="2487153" y="1516840"/>
              <a:ext cx="7747686" cy="28991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98702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 with a black background&#10;&#10;AI-generated content may be incorrect.">
            <a:extLst>
              <a:ext uri="{FF2B5EF4-FFF2-40B4-BE49-F238E27FC236}">
                <a16:creationId xmlns:a16="http://schemas.microsoft.com/office/drawing/2014/main" id="{F314EBF8-9802-CF1D-801E-63C18C22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20" t="30090" r="9640" b="30270"/>
          <a:stretch>
            <a:fillRect/>
          </a:stretch>
        </p:blipFill>
        <p:spPr>
          <a:xfrm>
            <a:off x="802675" y="1603289"/>
            <a:ext cx="10586649" cy="3907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FEE84B-060E-0646-61C1-61E6884BACC3}"/>
              </a:ext>
            </a:extLst>
          </p:cNvPr>
          <p:cNvSpPr txBox="1"/>
          <p:nvPr/>
        </p:nvSpPr>
        <p:spPr>
          <a:xfrm>
            <a:off x="3167861" y="3251436"/>
            <a:ext cx="69189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D5E3FF"/>
                </a:solidFill>
              </a:rPr>
              <a:t>Smart Campus Event Platform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940F8-47B2-3605-4FFD-62224135AD9A}"/>
              </a:ext>
            </a:extLst>
          </p:cNvPr>
          <p:cNvSpPr txBox="1"/>
          <p:nvPr/>
        </p:nvSpPr>
        <p:spPr>
          <a:xfrm>
            <a:off x="5495063" y="2882104"/>
            <a:ext cx="226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D5E3FF"/>
                </a:solidFill>
              </a:rPr>
              <a:t>Project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13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>
                <a:solidFill>
                  <a:srgbClr val="213163"/>
                </a:solidFill>
              </a:rPr>
              <a:t>Table of Contents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174709" y="1295647"/>
            <a:ext cx="5754564" cy="353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800"/>
              </a:spcBef>
              <a:buClr>
                <a:srgbClr val="213163"/>
              </a:buClr>
            </a:pPr>
            <a:endParaRPr lang="en-IN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Problem Statement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Project Overview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Proposed Solution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Technology used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System Design &amp; Results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Conclusion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References</a:t>
            </a:r>
            <a:endParaRPr lang="en-US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C3BD9B49-6271-C92D-48CE-5039440C29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16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Problem Statement</a:t>
            </a:r>
          </a:p>
        </p:txBody>
      </p:sp>
      <p:sp>
        <p:nvSpPr>
          <p:cNvPr id="201" name="Problem summary"/>
          <p:cNvSpPr/>
          <p:nvPr/>
        </p:nvSpPr>
        <p:spPr>
          <a:xfrm>
            <a:off x="400000" y="1450000"/>
            <a:ext cx="11392000" cy="85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13163"/>
                </a:solidFill>
                <a:latin typeface="Arial"/>
                <a:cs typeface="Arial"/>
              </a:rPr>
              <a:t>Campus events live on notice boards, social groups and spreadsheets. Students miss relevant events and organizers struggle to manage them.</a:t>
            </a:r>
          </a:p>
        </p:txBody>
      </p:sp>
      <p:sp>
        <p:nvSpPr>
          <p:cNvPr id="202" name="Card 1"/>
          <p:cNvSpPr/>
          <p:nvPr/>
        </p:nvSpPr>
        <p:spPr>
          <a:xfrm>
            <a:off x="400000" y="255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03" name="Number 1"/>
          <p:cNvSpPr/>
          <p:nvPr/>
        </p:nvSpPr>
        <p:spPr>
          <a:xfrm>
            <a:off x="620000" y="277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4" name="Card title 1"/>
          <p:cNvSpPr txBox="1"/>
          <p:nvPr/>
        </p:nvSpPr>
        <p:spPr>
          <a:xfrm>
            <a:off x="1400000" y="274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Scattered information</a:t>
            </a:r>
          </a:p>
        </p:txBody>
      </p:sp>
      <p:sp>
        <p:nvSpPr>
          <p:cNvPr id="205" name="Card text 1"/>
          <p:cNvSpPr txBox="1"/>
          <p:nvPr/>
        </p:nvSpPr>
        <p:spPr>
          <a:xfrm>
            <a:off x="1400000" y="319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Events are announced on posters, chat groups and emails, so many students never hear about them.</a:t>
            </a:r>
          </a:p>
        </p:txBody>
      </p:sp>
      <p:sp>
        <p:nvSpPr>
          <p:cNvPr id="206" name="Card 2"/>
          <p:cNvSpPr/>
          <p:nvPr/>
        </p:nvSpPr>
        <p:spPr>
          <a:xfrm>
            <a:off x="6221000" y="255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07" name="Number 2"/>
          <p:cNvSpPr/>
          <p:nvPr/>
        </p:nvSpPr>
        <p:spPr>
          <a:xfrm>
            <a:off x="6441000" y="277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8" name="Card title 2"/>
          <p:cNvSpPr txBox="1"/>
          <p:nvPr/>
        </p:nvSpPr>
        <p:spPr>
          <a:xfrm>
            <a:off x="7221000" y="274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Manual registration</a:t>
            </a:r>
          </a:p>
        </p:txBody>
      </p:sp>
      <p:sp>
        <p:nvSpPr>
          <p:cNvPr id="209" name="Card text 2"/>
          <p:cNvSpPr txBox="1"/>
          <p:nvPr/>
        </p:nvSpPr>
        <p:spPr>
          <a:xfrm>
            <a:off x="7221000" y="319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Paper forms and spreadsheets cause duplicate entries, errors and slow approvals.</a:t>
            </a:r>
          </a:p>
        </p:txBody>
      </p:sp>
      <p:sp>
        <p:nvSpPr>
          <p:cNvPr id="210" name="Card 3"/>
          <p:cNvSpPr/>
          <p:nvPr/>
        </p:nvSpPr>
        <p:spPr>
          <a:xfrm>
            <a:off x="400000" y="440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11" name="Number 3"/>
          <p:cNvSpPr/>
          <p:nvPr/>
        </p:nvSpPr>
        <p:spPr>
          <a:xfrm>
            <a:off x="620000" y="462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2" name="Card title 3"/>
          <p:cNvSpPr txBox="1"/>
          <p:nvPr/>
        </p:nvSpPr>
        <p:spPr>
          <a:xfrm>
            <a:off x="1400000" y="459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No attendance tracking</a:t>
            </a:r>
          </a:p>
        </p:txBody>
      </p:sp>
      <p:sp>
        <p:nvSpPr>
          <p:cNvPr id="213" name="Card text 3"/>
          <p:cNvSpPr txBox="1"/>
          <p:nvPr/>
        </p:nvSpPr>
        <p:spPr>
          <a:xfrm>
            <a:off x="1400000" y="504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Organizers cannot quickly verify who attended or issue proof of participation.</a:t>
            </a:r>
          </a:p>
        </p:txBody>
      </p:sp>
      <p:sp>
        <p:nvSpPr>
          <p:cNvPr id="214" name="Card 4"/>
          <p:cNvSpPr/>
          <p:nvPr/>
        </p:nvSpPr>
        <p:spPr>
          <a:xfrm>
            <a:off x="6221000" y="440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15" name="Number 4"/>
          <p:cNvSpPr/>
          <p:nvPr/>
        </p:nvSpPr>
        <p:spPr>
          <a:xfrm>
            <a:off x="6441000" y="462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16" name="Card title 4"/>
          <p:cNvSpPr txBox="1"/>
          <p:nvPr/>
        </p:nvSpPr>
        <p:spPr>
          <a:xfrm>
            <a:off x="7221000" y="459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No feedback or insights</a:t>
            </a:r>
          </a:p>
        </p:txBody>
      </p:sp>
      <p:sp>
        <p:nvSpPr>
          <p:cNvPr id="217" name="Card text 4"/>
          <p:cNvSpPr txBox="1"/>
          <p:nvPr/>
        </p:nvSpPr>
        <p:spPr>
          <a:xfrm>
            <a:off x="7221000" y="504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Admins lack data on turnout, interest and venue usage to plan future events.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9A1CF19-477C-5C17-FA78-34A1ABC1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475BC786-E92C-DE4A-EE1E-7D4D449C21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Project Overview</a:t>
            </a:r>
          </a:p>
        </p:txBody>
      </p:sp>
      <p:sp>
        <p:nvSpPr>
          <p:cNvPr id="218" name="Objective"/>
          <p:cNvSpPr/>
          <p:nvPr/>
        </p:nvSpPr>
        <p:spPr>
          <a:xfrm>
            <a:off x="400000" y="1450000"/>
            <a:ext cx="11392000" cy="1000000"/>
          </a:xfrm>
          <a:prstGeom prst="roundRect">
            <a:avLst>
              <a:gd name="adj" fmla="val 12000"/>
            </a:avLst>
          </a:prstGeom>
          <a:solidFill>
            <a:srgbClr val="213163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Objective: </a:t>
            </a:r>
            <a:r>
              <a:rPr lang="en-US" sz="1600" b="0" i="0" dirty="0">
                <a:solidFill>
                  <a:srgbClr val="FFFFFF"/>
                </a:solidFill>
                <a:latin typeface="Arial"/>
                <a:cs typeface="Arial"/>
              </a:rPr>
              <a:t>build one unified web platform where campus events are discovered, registered for, attended and reviewed.</a:t>
            </a:r>
          </a:p>
        </p:txBody>
      </p:sp>
      <p:sp>
        <p:nvSpPr>
          <p:cNvPr id="219" name="Role card Students"/>
          <p:cNvSpPr/>
          <p:nvPr/>
        </p:nvSpPr>
        <p:spPr>
          <a:xfrm>
            <a:off x="400000" y="2750000"/>
            <a:ext cx="3630000" cy="3400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20" name="Role icon Students"/>
          <p:cNvSpPr/>
          <p:nvPr/>
        </p:nvSpPr>
        <p:spPr>
          <a:xfrm>
            <a:off x="650000" y="3000000"/>
            <a:ext cx="640000" cy="64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2200" b="1" i="0" dirty="0">
                <a:solidFill>
                  <a:srgbClr val="FFE500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221" name="Role title Students"/>
          <p:cNvSpPr txBox="1"/>
          <p:nvPr/>
        </p:nvSpPr>
        <p:spPr>
          <a:xfrm>
            <a:off x="1450000" y="3130000"/>
            <a:ext cx="24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Students</a:t>
            </a:r>
          </a:p>
        </p:txBody>
      </p:sp>
      <p:sp>
        <p:nvSpPr>
          <p:cNvPr id="222" name="Role list Students"/>
          <p:cNvSpPr txBox="1"/>
          <p:nvPr/>
        </p:nvSpPr>
        <p:spPr>
          <a:xfrm>
            <a:off x="650000" y="3950000"/>
            <a:ext cx="31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Bef>
                <a:spcPts val="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Browse and search events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One-click registration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QR e-ticket and reminders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Personal event calendar</a:t>
            </a:r>
          </a:p>
        </p:txBody>
      </p:sp>
      <p:sp>
        <p:nvSpPr>
          <p:cNvPr id="223" name="Role card Organizers"/>
          <p:cNvSpPr/>
          <p:nvPr/>
        </p:nvSpPr>
        <p:spPr>
          <a:xfrm>
            <a:off x="4281000" y="2750000"/>
            <a:ext cx="3630000" cy="3400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24" name="Role icon Organizers"/>
          <p:cNvSpPr/>
          <p:nvPr/>
        </p:nvSpPr>
        <p:spPr>
          <a:xfrm>
            <a:off x="4531000" y="3000000"/>
            <a:ext cx="640000" cy="64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2200" b="1" i="0" dirty="0">
                <a:solidFill>
                  <a:srgbClr val="FFE500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225" name="Role title Organizers"/>
          <p:cNvSpPr txBox="1"/>
          <p:nvPr/>
        </p:nvSpPr>
        <p:spPr>
          <a:xfrm>
            <a:off x="5331000" y="3130000"/>
            <a:ext cx="24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Organizers</a:t>
            </a:r>
          </a:p>
        </p:txBody>
      </p:sp>
      <p:sp>
        <p:nvSpPr>
          <p:cNvPr id="226" name="Role list Organizers"/>
          <p:cNvSpPr txBox="1"/>
          <p:nvPr/>
        </p:nvSpPr>
        <p:spPr>
          <a:xfrm>
            <a:off x="4531000" y="3950000"/>
            <a:ext cx="31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Bef>
                <a:spcPts val="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Create and publish events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Track registrations live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QR check-in at the venue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Post-event feedback reports</a:t>
            </a:r>
          </a:p>
        </p:txBody>
      </p:sp>
      <p:sp>
        <p:nvSpPr>
          <p:cNvPr id="227" name="Role card Administrators"/>
          <p:cNvSpPr/>
          <p:nvPr/>
        </p:nvSpPr>
        <p:spPr>
          <a:xfrm>
            <a:off x="8162000" y="2750000"/>
            <a:ext cx="3630000" cy="3400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28" name="Role icon Administrators"/>
          <p:cNvSpPr/>
          <p:nvPr/>
        </p:nvSpPr>
        <p:spPr>
          <a:xfrm>
            <a:off x="8412000" y="3000000"/>
            <a:ext cx="640000" cy="64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2200" b="1" i="0" dirty="0">
                <a:solidFill>
                  <a:srgbClr val="FFE500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229" name="Role title Administrators"/>
          <p:cNvSpPr txBox="1"/>
          <p:nvPr/>
        </p:nvSpPr>
        <p:spPr>
          <a:xfrm>
            <a:off x="9212000" y="3130000"/>
            <a:ext cx="24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Administrators</a:t>
            </a:r>
          </a:p>
        </p:txBody>
      </p:sp>
      <p:sp>
        <p:nvSpPr>
          <p:cNvPr id="230" name="Role list Administrators"/>
          <p:cNvSpPr txBox="1"/>
          <p:nvPr/>
        </p:nvSpPr>
        <p:spPr>
          <a:xfrm>
            <a:off x="8412000" y="3950000"/>
            <a:ext cx="31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Bef>
                <a:spcPts val="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Approve events and venues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Manage users and roles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Avoid venue clashes</a:t>
            </a:r>
          </a:p>
          <a:p>
            <a:pPr algn="l" marL="285750" indent="-285750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Campus-wide analytics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806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7D828F6-D11A-004C-6B1C-7342E3C2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01B87DF3-C5CE-63DD-4007-1F1C71D372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Proposed Solution</a:t>
            </a:r>
          </a:p>
        </p:txBody>
      </p:sp>
      <p:sp>
        <p:nvSpPr>
          <p:cNvPr id="231" name="Step 1"/>
          <p:cNvSpPr/>
          <p:nvPr/>
        </p:nvSpPr>
        <p:spPr>
          <a:xfrm>
            <a:off x="400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1  Discover</a:t>
            </a:r>
          </a:p>
        </p:txBody>
      </p:sp>
      <p:sp>
        <p:nvSpPr>
          <p:cNvPr id="232" name="Step text 1"/>
          <p:cNvSpPr txBox="1"/>
          <p:nvPr/>
        </p:nvSpPr>
        <p:spPr>
          <a:xfrm>
            <a:off x="460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Browse, filter and search upcoming events by category, date and club.</a:t>
            </a:r>
          </a:p>
        </p:txBody>
      </p:sp>
      <p:sp>
        <p:nvSpPr>
          <p:cNvPr id="233" name="Step 2"/>
          <p:cNvSpPr/>
          <p:nvPr/>
        </p:nvSpPr>
        <p:spPr>
          <a:xfrm>
            <a:off x="3257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2  Register</a:t>
            </a:r>
          </a:p>
        </p:txBody>
      </p:sp>
      <p:sp>
        <p:nvSpPr>
          <p:cNvPr id="234" name="Step text 2"/>
          <p:cNvSpPr txBox="1"/>
          <p:nvPr/>
        </p:nvSpPr>
        <p:spPr>
          <a:xfrm>
            <a:off x="3317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Sign up in one click. Seats, waitlists and approvals are handled automatically.</a:t>
            </a:r>
          </a:p>
        </p:txBody>
      </p:sp>
      <p:sp>
        <p:nvSpPr>
          <p:cNvPr id="235" name="Step 3"/>
          <p:cNvSpPr/>
          <p:nvPr/>
        </p:nvSpPr>
        <p:spPr>
          <a:xfrm>
            <a:off x="6114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3  Attend</a:t>
            </a:r>
          </a:p>
        </p:txBody>
      </p:sp>
      <p:sp>
        <p:nvSpPr>
          <p:cNvPr id="236" name="Step text 3"/>
          <p:cNvSpPr txBox="1"/>
          <p:nvPr/>
        </p:nvSpPr>
        <p:spPr>
          <a:xfrm>
            <a:off x="6174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Scan the QR e-ticket at the venue for instant, verified attendance.</a:t>
            </a:r>
          </a:p>
        </p:txBody>
      </p:sp>
      <p:sp>
        <p:nvSpPr>
          <p:cNvPr id="237" name="Step 4"/>
          <p:cNvSpPr/>
          <p:nvPr/>
        </p:nvSpPr>
        <p:spPr>
          <a:xfrm>
            <a:off x="8971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4  Feedback</a:t>
            </a:r>
          </a:p>
        </p:txBody>
      </p:sp>
      <p:sp>
        <p:nvSpPr>
          <p:cNvPr id="238" name="Step text 4"/>
          <p:cNvSpPr txBox="1"/>
          <p:nvPr/>
        </p:nvSpPr>
        <p:spPr>
          <a:xfrm>
            <a:off x="9031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Rate events, download certificates and give organizers useful insights.</a:t>
            </a:r>
          </a:p>
        </p:txBody>
      </p:sp>
      <p:sp>
        <p:nvSpPr>
          <p:cNvPr id="239" name="AI heading"/>
          <p:cNvSpPr txBox="1"/>
          <p:nvPr/>
        </p:nvSpPr>
        <p:spPr>
          <a:xfrm>
            <a:off x="400000" y="3700000"/>
            <a:ext cx="11392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AI-powered enhancements</a:t>
            </a:r>
          </a:p>
        </p:txBody>
      </p:sp>
      <p:sp>
        <p:nvSpPr>
          <p:cNvPr id="240" name="AI card 1"/>
          <p:cNvSpPr/>
          <p:nvPr/>
        </p:nvSpPr>
        <p:spPr>
          <a:xfrm>
            <a:off x="400000" y="4250000"/>
            <a:ext cx="3630000" cy="19500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41" name="AI number 1"/>
          <p:cNvSpPr/>
          <p:nvPr/>
        </p:nvSpPr>
        <p:spPr>
          <a:xfrm>
            <a:off x="620000" y="4450000"/>
            <a:ext cx="460000" cy="46000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42" name="AI title 1"/>
          <p:cNvSpPr txBox="1"/>
          <p:nvPr/>
        </p:nvSpPr>
        <p:spPr>
          <a:xfrm>
            <a:off x="1250000" y="4480000"/>
            <a:ext cx="26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Smart recommendations</a:t>
            </a:r>
          </a:p>
        </p:txBody>
      </p:sp>
      <p:sp>
        <p:nvSpPr>
          <p:cNvPr id="243" name="AI text 1"/>
          <p:cNvSpPr txBox="1"/>
          <p:nvPr/>
        </p:nvSpPr>
        <p:spPr>
          <a:xfrm>
            <a:off x="620000" y="5050000"/>
            <a:ext cx="319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Suggests events based on interests and past attendance.</a:t>
            </a:r>
          </a:p>
        </p:txBody>
      </p:sp>
      <p:sp>
        <p:nvSpPr>
          <p:cNvPr id="244" name="AI card 2"/>
          <p:cNvSpPr/>
          <p:nvPr/>
        </p:nvSpPr>
        <p:spPr>
          <a:xfrm>
            <a:off x="4281000" y="4250000"/>
            <a:ext cx="3630000" cy="19500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45" name="AI number 2"/>
          <p:cNvSpPr/>
          <p:nvPr/>
        </p:nvSpPr>
        <p:spPr>
          <a:xfrm>
            <a:off x="4501000" y="4450000"/>
            <a:ext cx="460000" cy="46000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46" name="AI title 2"/>
          <p:cNvSpPr txBox="1"/>
          <p:nvPr/>
        </p:nvSpPr>
        <p:spPr>
          <a:xfrm>
            <a:off x="5131000" y="4480000"/>
            <a:ext cx="26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Campus chatbot</a:t>
            </a:r>
          </a:p>
        </p:txBody>
      </p:sp>
      <p:sp>
        <p:nvSpPr>
          <p:cNvPr id="247" name="AI text 2"/>
          <p:cNvSpPr txBox="1"/>
          <p:nvPr/>
        </p:nvSpPr>
        <p:spPr>
          <a:xfrm>
            <a:off x="4501000" y="5050000"/>
            <a:ext cx="319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Answers event FAQs, timings and venue questions instantly.</a:t>
            </a:r>
          </a:p>
        </p:txBody>
      </p:sp>
      <p:sp>
        <p:nvSpPr>
          <p:cNvPr id="248" name="AI card 3"/>
          <p:cNvSpPr/>
          <p:nvPr/>
        </p:nvSpPr>
        <p:spPr>
          <a:xfrm>
            <a:off x="8162000" y="4250000"/>
            <a:ext cx="3630000" cy="19500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49" name="AI number 3"/>
          <p:cNvSpPr/>
          <p:nvPr/>
        </p:nvSpPr>
        <p:spPr>
          <a:xfrm>
            <a:off x="8382000" y="4450000"/>
            <a:ext cx="460000" cy="46000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50" name="AI title 3"/>
          <p:cNvSpPr txBox="1"/>
          <p:nvPr/>
        </p:nvSpPr>
        <p:spPr>
          <a:xfrm>
            <a:off x="9012000" y="4480000"/>
            <a:ext cx="26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Clash-free scheduling</a:t>
            </a:r>
          </a:p>
        </p:txBody>
      </p:sp>
      <p:sp>
        <p:nvSpPr>
          <p:cNvPr id="251" name="AI text 3"/>
          <p:cNvSpPr txBox="1"/>
          <p:nvPr/>
        </p:nvSpPr>
        <p:spPr>
          <a:xfrm>
            <a:off x="8382000" y="5050000"/>
            <a:ext cx="319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Detects venue and time conflicts before events go live.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23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0CFA53-CCA4-D4E2-FCC5-6726C969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696FB24-3D2E-A463-EE53-5191611540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R</a:t>
            </a:r>
            <a:r>
              <a:rPr lang="en-IN" sz="2000" b="1" dirty="0" err="1">
                <a:solidFill>
                  <a:srgbClr val="213163"/>
                </a:solidFill>
              </a:rPr>
              <a:t>eferences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266686" y="1295647"/>
            <a:ext cx="8898173" cy="505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4"/>
              </a:rPr>
              <a:t>https://spring.io/projects/spring-boot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5"/>
              </a:rPr>
              <a:t>https://docs.spring.io/spring-security/reference/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6"/>
              </a:rPr>
              <a:t>https://react.dev/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7"/>
              </a:rPr>
              <a:t>https://dev.mysql.com/doc/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8"/>
              </a:rPr>
              <a:t>https://jwt.io/introduction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49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Technology Used</a:t>
            </a:r>
          </a:p>
        </p:txBody>
      </p:sp>
      <p:sp>
        <p:nvSpPr>
          <p:cNvPr id="252" name="Track Frontend"/>
          <p:cNvSpPr/>
          <p:nvPr/>
        </p:nvSpPr>
        <p:spPr>
          <a:xfrm>
            <a:off x="400000" y="15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53" name="Label Frontend"/>
          <p:cNvSpPr/>
          <p:nvPr/>
        </p:nvSpPr>
        <p:spPr>
          <a:xfrm>
            <a:off x="400000" y="15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254" name="Icon Frontend"/>
          <p:cNvSpPr/>
          <p:nvPr/>
        </p:nvSpPr>
        <p:spPr>
          <a:xfrm>
            <a:off x="570000" y="16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UI</a:t>
            </a:r>
          </a:p>
        </p:txBody>
      </p:sp>
      <p:sp>
        <p:nvSpPr>
          <p:cNvPr id="255" name="Chip React.js"/>
          <p:cNvSpPr/>
          <p:nvPr/>
        </p:nvSpPr>
        <p:spPr>
          <a:xfrm>
            <a:off x="3300000" y="1620000"/>
            <a:ext cx="11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React.js</a:t>
            </a:r>
          </a:p>
        </p:txBody>
      </p:sp>
      <p:sp>
        <p:nvSpPr>
          <p:cNvPr id="256" name="Chip Axios"/>
          <p:cNvSpPr/>
          <p:nvPr/>
        </p:nvSpPr>
        <p:spPr>
          <a:xfrm>
            <a:off x="4640000" y="1620000"/>
            <a:ext cx="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Axios</a:t>
            </a:r>
          </a:p>
        </p:txBody>
      </p:sp>
      <p:sp>
        <p:nvSpPr>
          <p:cNvPr id="257" name="Chip HTML5 / CSS3"/>
          <p:cNvSpPr/>
          <p:nvPr/>
        </p:nvSpPr>
        <p:spPr>
          <a:xfrm>
            <a:off x="5680000" y="1620000"/>
            <a:ext cx="15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HTML5 / CSS3</a:t>
            </a:r>
          </a:p>
        </p:txBody>
      </p:sp>
      <p:sp>
        <p:nvSpPr>
          <p:cNvPr id="258" name="Chip Bootstrap"/>
          <p:cNvSpPr/>
          <p:nvPr/>
        </p:nvSpPr>
        <p:spPr>
          <a:xfrm>
            <a:off x="7420000" y="1620000"/>
            <a:ext cx="12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Bootstrap</a:t>
            </a:r>
          </a:p>
        </p:txBody>
      </p:sp>
      <p:sp>
        <p:nvSpPr>
          <p:cNvPr id="259" name="Track Backend"/>
          <p:cNvSpPr/>
          <p:nvPr/>
        </p:nvSpPr>
        <p:spPr>
          <a:xfrm>
            <a:off x="400000" y="23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60" name="Label Backend"/>
          <p:cNvSpPr/>
          <p:nvPr/>
        </p:nvSpPr>
        <p:spPr>
          <a:xfrm>
            <a:off x="400000" y="23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261" name="Icon Backend"/>
          <p:cNvSpPr/>
          <p:nvPr/>
        </p:nvSpPr>
        <p:spPr>
          <a:xfrm>
            <a:off x="570000" y="24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BE</a:t>
            </a:r>
          </a:p>
        </p:txBody>
      </p:sp>
      <p:sp>
        <p:nvSpPr>
          <p:cNvPr id="262" name="Chip Java 17"/>
          <p:cNvSpPr/>
          <p:nvPr/>
        </p:nvSpPr>
        <p:spPr>
          <a:xfrm>
            <a:off x="3300000" y="2420000"/>
            <a:ext cx="10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Java 17</a:t>
            </a:r>
          </a:p>
        </p:txBody>
      </p:sp>
      <p:sp>
        <p:nvSpPr>
          <p:cNvPr id="263" name="Chip Spring Boot"/>
          <p:cNvSpPr/>
          <p:nvPr/>
        </p:nvSpPr>
        <p:spPr>
          <a:xfrm>
            <a:off x="4540000" y="2420000"/>
            <a:ext cx="14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Boot</a:t>
            </a:r>
          </a:p>
        </p:txBody>
      </p:sp>
      <p:sp>
        <p:nvSpPr>
          <p:cNvPr id="264" name="Chip Spring MVC"/>
          <p:cNvSpPr/>
          <p:nvPr/>
        </p:nvSpPr>
        <p:spPr>
          <a:xfrm>
            <a:off x="6180000" y="2420000"/>
            <a:ext cx="13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MVC</a:t>
            </a:r>
          </a:p>
        </p:txBody>
      </p:sp>
      <p:sp>
        <p:nvSpPr>
          <p:cNvPr id="265" name="Chip REST APIs"/>
          <p:cNvSpPr/>
          <p:nvPr/>
        </p:nvSpPr>
        <p:spPr>
          <a:xfrm>
            <a:off x="7720000" y="2420000"/>
            <a:ext cx="12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REST APIs</a:t>
            </a:r>
          </a:p>
        </p:txBody>
      </p:sp>
      <p:sp>
        <p:nvSpPr>
          <p:cNvPr id="266" name="Track Database"/>
          <p:cNvSpPr/>
          <p:nvPr/>
        </p:nvSpPr>
        <p:spPr>
          <a:xfrm>
            <a:off x="400000" y="31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67" name="Label Database"/>
          <p:cNvSpPr/>
          <p:nvPr/>
        </p:nvSpPr>
        <p:spPr>
          <a:xfrm>
            <a:off x="400000" y="31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</a:p>
        </p:txBody>
      </p:sp>
      <p:sp>
        <p:nvSpPr>
          <p:cNvPr id="268" name="Icon Database"/>
          <p:cNvSpPr/>
          <p:nvPr/>
        </p:nvSpPr>
        <p:spPr>
          <a:xfrm>
            <a:off x="570000" y="32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DB</a:t>
            </a:r>
          </a:p>
        </p:txBody>
      </p:sp>
      <p:sp>
        <p:nvSpPr>
          <p:cNvPr id="269" name="Chip MySQL"/>
          <p:cNvSpPr/>
          <p:nvPr/>
        </p:nvSpPr>
        <p:spPr>
          <a:xfrm>
            <a:off x="3300000" y="3220000"/>
            <a:ext cx="8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MySQL</a:t>
            </a:r>
          </a:p>
        </p:txBody>
      </p:sp>
      <p:sp>
        <p:nvSpPr>
          <p:cNvPr id="270" name="Chip Spring Data JPA"/>
          <p:cNvSpPr/>
          <p:nvPr/>
        </p:nvSpPr>
        <p:spPr>
          <a:xfrm>
            <a:off x="4340000" y="3220000"/>
            <a:ext cx="1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Data JPA</a:t>
            </a:r>
          </a:p>
        </p:txBody>
      </p:sp>
      <p:sp>
        <p:nvSpPr>
          <p:cNvPr id="271" name="Chip Hibernate"/>
          <p:cNvSpPr/>
          <p:nvPr/>
        </p:nvSpPr>
        <p:spPr>
          <a:xfrm>
            <a:off x="6380000" y="3220000"/>
            <a:ext cx="12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Hibernate</a:t>
            </a:r>
          </a:p>
        </p:txBody>
      </p:sp>
      <p:sp>
        <p:nvSpPr>
          <p:cNvPr id="272" name="Track Security"/>
          <p:cNvSpPr/>
          <p:nvPr/>
        </p:nvSpPr>
        <p:spPr>
          <a:xfrm>
            <a:off x="400000" y="39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73" name="Label Security"/>
          <p:cNvSpPr/>
          <p:nvPr/>
        </p:nvSpPr>
        <p:spPr>
          <a:xfrm>
            <a:off x="400000" y="39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Security</a:t>
            </a:r>
          </a:p>
        </p:txBody>
      </p:sp>
      <p:sp>
        <p:nvSpPr>
          <p:cNvPr id="274" name="Icon Security"/>
          <p:cNvSpPr/>
          <p:nvPr/>
        </p:nvSpPr>
        <p:spPr>
          <a:xfrm>
            <a:off x="570000" y="40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SEC</a:t>
            </a:r>
          </a:p>
        </p:txBody>
      </p:sp>
      <p:sp>
        <p:nvSpPr>
          <p:cNvPr id="275" name="Chip Spring Security"/>
          <p:cNvSpPr/>
          <p:nvPr/>
        </p:nvSpPr>
        <p:spPr>
          <a:xfrm>
            <a:off x="3300000" y="4020000"/>
            <a:ext cx="18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Security</a:t>
            </a:r>
          </a:p>
        </p:txBody>
      </p:sp>
      <p:sp>
        <p:nvSpPr>
          <p:cNvPr id="276" name="Chip JWT"/>
          <p:cNvSpPr/>
          <p:nvPr/>
        </p:nvSpPr>
        <p:spPr>
          <a:xfrm>
            <a:off x="5340000" y="4020000"/>
            <a:ext cx="6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JWT</a:t>
            </a:r>
          </a:p>
        </p:txBody>
      </p:sp>
      <p:sp>
        <p:nvSpPr>
          <p:cNvPr id="277" name="Chip BCrypt"/>
          <p:cNvSpPr/>
          <p:nvPr/>
        </p:nvSpPr>
        <p:spPr>
          <a:xfrm>
            <a:off x="6180000" y="4020000"/>
            <a:ext cx="9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BCrypt</a:t>
            </a:r>
          </a:p>
        </p:txBody>
      </p:sp>
      <p:sp>
        <p:nvSpPr>
          <p:cNvPr id="278" name="Chip Role-based access"/>
          <p:cNvSpPr/>
          <p:nvPr/>
        </p:nvSpPr>
        <p:spPr>
          <a:xfrm>
            <a:off x="7320000" y="4020000"/>
            <a:ext cx="20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Role-based access</a:t>
            </a:r>
          </a:p>
        </p:txBody>
      </p:sp>
      <p:sp>
        <p:nvSpPr>
          <p:cNvPr id="279" name="Track AI services"/>
          <p:cNvSpPr/>
          <p:nvPr/>
        </p:nvSpPr>
        <p:spPr>
          <a:xfrm>
            <a:off x="400000" y="47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80" name="Label AI services"/>
          <p:cNvSpPr/>
          <p:nvPr/>
        </p:nvSpPr>
        <p:spPr>
          <a:xfrm>
            <a:off x="400000" y="47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AI services</a:t>
            </a:r>
          </a:p>
        </p:txBody>
      </p:sp>
      <p:sp>
        <p:nvSpPr>
          <p:cNvPr id="281" name="Icon AI services"/>
          <p:cNvSpPr/>
          <p:nvPr/>
        </p:nvSpPr>
        <p:spPr>
          <a:xfrm>
            <a:off x="570000" y="48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AI</a:t>
            </a:r>
          </a:p>
        </p:txBody>
      </p:sp>
      <p:sp>
        <p:nvSpPr>
          <p:cNvPr id="282" name="Chip Python"/>
          <p:cNvSpPr/>
          <p:nvPr/>
        </p:nvSpPr>
        <p:spPr>
          <a:xfrm>
            <a:off x="3300000" y="4820000"/>
            <a:ext cx="9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Python</a:t>
            </a:r>
          </a:p>
        </p:txBody>
      </p:sp>
      <p:sp>
        <p:nvSpPr>
          <p:cNvPr id="283" name="Chip scikit-learn"/>
          <p:cNvSpPr/>
          <p:nvPr/>
        </p:nvSpPr>
        <p:spPr>
          <a:xfrm>
            <a:off x="4440000" y="4820000"/>
            <a:ext cx="15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scikit-learn</a:t>
            </a:r>
          </a:p>
        </p:txBody>
      </p:sp>
      <p:sp>
        <p:nvSpPr>
          <p:cNvPr id="284" name="Chip LLM chatbot API"/>
          <p:cNvSpPr/>
          <p:nvPr/>
        </p:nvSpPr>
        <p:spPr>
          <a:xfrm>
            <a:off x="6180000" y="4820000"/>
            <a:ext cx="1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LLM chatbot API</a:t>
            </a:r>
          </a:p>
        </p:txBody>
      </p:sp>
      <p:sp>
        <p:nvSpPr>
          <p:cNvPr id="285" name="Track DevOps and tools"/>
          <p:cNvSpPr/>
          <p:nvPr/>
        </p:nvSpPr>
        <p:spPr>
          <a:xfrm>
            <a:off x="400000" y="55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86" name="Label DevOps and tools"/>
          <p:cNvSpPr/>
          <p:nvPr/>
        </p:nvSpPr>
        <p:spPr>
          <a:xfrm>
            <a:off x="400000" y="55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DevOps and tools</a:t>
            </a:r>
          </a:p>
        </p:txBody>
      </p:sp>
      <p:sp>
        <p:nvSpPr>
          <p:cNvPr id="287" name="Icon DevOps and tools"/>
          <p:cNvSpPr/>
          <p:nvPr/>
        </p:nvSpPr>
        <p:spPr>
          <a:xfrm>
            <a:off x="570000" y="56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DEV</a:t>
            </a:r>
          </a:p>
        </p:txBody>
      </p:sp>
      <p:sp>
        <p:nvSpPr>
          <p:cNvPr id="288" name="Chip Git / GitHub"/>
          <p:cNvSpPr/>
          <p:nvPr/>
        </p:nvSpPr>
        <p:spPr>
          <a:xfrm>
            <a:off x="3300000" y="5620000"/>
            <a:ext cx="15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Git / GitHub</a:t>
            </a:r>
          </a:p>
        </p:txBody>
      </p:sp>
      <p:sp>
        <p:nvSpPr>
          <p:cNvPr id="289" name="Chip Maven"/>
          <p:cNvSpPr/>
          <p:nvPr/>
        </p:nvSpPr>
        <p:spPr>
          <a:xfrm>
            <a:off x="5040000" y="5620000"/>
            <a:ext cx="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Maven</a:t>
            </a:r>
          </a:p>
        </p:txBody>
      </p:sp>
      <p:sp>
        <p:nvSpPr>
          <p:cNvPr id="290" name="Chip Postman"/>
          <p:cNvSpPr/>
          <p:nvPr/>
        </p:nvSpPr>
        <p:spPr>
          <a:xfrm>
            <a:off x="6080000" y="5620000"/>
            <a:ext cx="10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Postman</a:t>
            </a:r>
          </a:p>
        </p:txBody>
      </p:sp>
      <p:sp>
        <p:nvSpPr>
          <p:cNvPr id="291" name="Chip Docker"/>
          <p:cNvSpPr/>
          <p:nvPr/>
        </p:nvSpPr>
        <p:spPr>
          <a:xfrm>
            <a:off x="7320000" y="5620000"/>
            <a:ext cx="9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Docker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System Architecture</a:t>
            </a:r>
          </a:p>
        </p:txBody>
      </p:sp>
      <p:sp>
        <p:nvSpPr>
          <p:cNvPr id="292" name="Users box"/>
          <p:cNvSpPr/>
          <p:nvPr/>
        </p:nvSpPr>
        <p:spPr>
          <a:xfrm>
            <a:off x="400000" y="1500000"/>
            <a:ext cx="1700000" cy="270000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</p:spPr>
        <p:txBody>
          <a:bodyPr wrap="square" lIns="160000" tIns="200000" rIns="100000" bIns="10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Users</a:t>
            </a:r>
          </a:p>
          <a:p>
            <a:pPr algn="l" marL="0" indent="0">
              <a:spcBef>
                <a:spcPts val="11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Students</a:t>
            </a:r>
          </a:p>
          <a:p>
            <a:pPr algn="l" marL="0" indent="0">
              <a:spcBef>
                <a:spcPts val="11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Organizers</a:t>
            </a:r>
          </a:p>
          <a:p>
            <a:pPr algn="l" marL="0" indent="0">
              <a:spcBef>
                <a:spcPts val="11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Administrators</a:t>
            </a:r>
          </a:p>
        </p:txBody>
      </p:sp>
      <p:sp>
        <p:nvSpPr>
          <p:cNvPr id="293" name="Client box"/>
          <p:cNvSpPr/>
          <p:nvPr/>
        </p:nvSpPr>
        <p:spPr>
          <a:xfrm>
            <a:off x="2900000" y="1500000"/>
            <a:ext cx="2100000" cy="2700000"/>
          </a:xfrm>
          <a:prstGeom prst="roundRect">
            <a:avLst>
              <a:gd name="adj" fmla="val 6000"/>
            </a:avLst>
          </a:prstGeom>
          <a:solidFill>
            <a:srgbClr val="213163"/>
          </a:solidFill>
          <a:ln>
            <a:noFill/>
          </a:ln>
        </p:spPr>
        <p:txBody>
          <a:bodyPr wrap="square" lIns="160000" tIns="200000" rIns="100000" bIns="10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Web client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React.js</a:t>
            </a:r>
          </a:p>
          <a:p>
            <a:pPr algn="l" marL="0" indent="0">
              <a:spcBef>
                <a:spcPts val="9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Event browser</a:t>
            </a:r>
          </a:p>
          <a:p>
            <a:pPr algn="l" marL="0" indent="0">
              <a:spcBef>
                <a:spcPts val="9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Tickets and QR</a:t>
            </a:r>
          </a:p>
          <a:p>
            <a:pPr algn="l" marL="0" indent="0">
              <a:spcBef>
                <a:spcPts val="9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Admin dashboard</a:t>
            </a:r>
          </a:p>
        </p:txBody>
      </p:sp>
      <p:sp>
        <p:nvSpPr>
          <p:cNvPr id="294" name="API box"/>
          <p:cNvSpPr/>
          <p:nvPr/>
        </p:nvSpPr>
        <p:spPr>
          <a:xfrm>
            <a:off x="5800000" y="1500000"/>
            <a:ext cx="3300000" cy="2700000"/>
          </a:xfrm>
          <a:prstGeom prst="roundRect">
            <a:avLst>
              <a:gd name="adj" fmla="val 4000"/>
            </a:avLst>
          </a:prstGeom>
          <a:solidFill>
            <a:srgbClr val="034977"/>
          </a:solidFill>
          <a:ln>
            <a:noFill/>
          </a:ln>
        </p:spPr>
        <p:txBody>
          <a:bodyPr wrap="square" lIns="160000" tIns="200000" rIns="100000" bIns="10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Spring Boot REST API</a:t>
            </a:r>
          </a:p>
        </p:txBody>
      </p:sp>
      <p:sp>
        <p:nvSpPr>
          <p:cNvPr id="295" name="Module Auth (JWT)"/>
          <p:cNvSpPr/>
          <p:nvPr/>
        </p:nvSpPr>
        <p:spPr>
          <a:xfrm>
            <a:off x="5950000" y="230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Auth (JWT)</a:t>
            </a:r>
          </a:p>
        </p:txBody>
      </p:sp>
      <p:sp>
        <p:nvSpPr>
          <p:cNvPr id="296" name="Module Events"/>
          <p:cNvSpPr/>
          <p:nvPr/>
        </p:nvSpPr>
        <p:spPr>
          <a:xfrm>
            <a:off x="7500000" y="230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Events</a:t>
            </a:r>
          </a:p>
        </p:txBody>
      </p:sp>
      <p:sp>
        <p:nvSpPr>
          <p:cNvPr id="297" name="Module Registration"/>
          <p:cNvSpPr/>
          <p:nvPr/>
        </p:nvSpPr>
        <p:spPr>
          <a:xfrm>
            <a:off x="5950000" y="286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Registration</a:t>
            </a:r>
          </a:p>
        </p:txBody>
      </p:sp>
      <p:sp>
        <p:nvSpPr>
          <p:cNvPr id="298" name="Module Check-in"/>
          <p:cNvSpPr/>
          <p:nvPr/>
        </p:nvSpPr>
        <p:spPr>
          <a:xfrm>
            <a:off x="7500000" y="286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Check-in</a:t>
            </a:r>
          </a:p>
        </p:txBody>
      </p:sp>
      <p:sp>
        <p:nvSpPr>
          <p:cNvPr id="299" name="Module Notifications"/>
          <p:cNvSpPr/>
          <p:nvPr/>
        </p:nvSpPr>
        <p:spPr>
          <a:xfrm>
            <a:off x="5950000" y="342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Notifications</a:t>
            </a:r>
          </a:p>
        </p:txBody>
      </p:sp>
      <p:sp>
        <p:nvSpPr>
          <p:cNvPr id="300" name="Module Reports"/>
          <p:cNvSpPr/>
          <p:nvPr/>
        </p:nvSpPr>
        <p:spPr>
          <a:xfrm>
            <a:off x="7500000" y="342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Reports</a:t>
            </a:r>
          </a:p>
        </p:txBody>
      </p:sp>
      <p:sp>
        <p:nvSpPr>
          <p:cNvPr id="301" name="DB box"/>
          <p:cNvSpPr/>
          <p:nvPr/>
        </p:nvSpPr>
        <p:spPr>
          <a:xfrm>
            <a:off x="9800000" y="1500000"/>
            <a:ext cx="1992000" cy="2700000"/>
          </a:xfrm>
          <a:prstGeom prst="can">
            <a:avLst/>
          </a:prstGeom>
          <a:solidFill>
            <a:srgbClr val="213163"/>
          </a:solidFill>
          <a:ln>
            <a:noFill/>
          </a:ln>
        </p:spPr>
        <p:txBody>
          <a:bodyPr wrap="square" lIns="60000" tIns="300000" rIns="60000" bIns="6000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MySQL</a:t>
            </a:r>
          </a:p>
          <a:p>
            <a:pPr algn="ctr" marL="0" indent="0">
              <a:spcBef>
                <a:spcPts val="7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Users, events,</a:t>
            </a:r>
          </a:p>
          <a:p>
            <a:pPr algn="ctr" marL="0" indent="0">
              <a:spcBef>
                <a:spcPts val="1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registrations,</a:t>
            </a:r>
          </a:p>
          <a:p>
            <a:pPr algn="ctr" marL="0" indent="0">
              <a:spcBef>
                <a:spcPts val="1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attendance,</a:t>
            </a:r>
          </a:p>
          <a:p>
            <a:pPr algn="ctr" marL="0" indent="0">
              <a:spcBef>
                <a:spcPts val="1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</a:p>
        </p:txBody>
      </p:sp>
      <p:sp>
        <p:nvSpPr>
          <p:cNvPr id="302" name="Arrow HTTPS"/>
          <p:cNvSpPr/>
          <p:nvPr/>
        </p:nvSpPr>
        <p:spPr>
          <a:xfrm>
            <a:off x="2250000" y="2680000"/>
            <a:ext cx="500000" cy="340000"/>
          </a:xfrm>
          <a:prstGeom prst="right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3" name="Label HTTPS"/>
          <p:cNvSpPr txBox="1"/>
          <p:nvPr/>
        </p:nvSpPr>
        <p:spPr>
          <a:xfrm>
            <a:off x="2100000" y="233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HTTPS</a:t>
            </a:r>
          </a:p>
        </p:txBody>
      </p:sp>
      <p:sp>
        <p:nvSpPr>
          <p:cNvPr id="304" name="Arrow REST / JSON"/>
          <p:cNvSpPr/>
          <p:nvPr/>
        </p:nvSpPr>
        <p:spPr>
          <a:xfrm>
            <a:off x="5150000" y="2680000"/>
            <a:ext cx="500000" cy="340000"/>
          </a:xfrm>
          <a:prstGeom prst="right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5" name="Label REST / JSON"/>
          <p:cNvSpPr txBox="1"/>
          <p:nvPr/>
        </p:nvSpPr>
        <p:spPr>
          <a:xfrm>
            <a:off x="5000000" y="233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REST / JSON</a:t>
            </a:r>
          </a:p>
        </p:txBody>
      </p:sp>
      <p:sp>
        <p:nvSpPr>
          <p:cNvPr id="306" name="Arrow JPA"/>
          <p:cNvSpPr/>
          <p:nvPr/>
        </p:nvSpPr>
        <p:spPr>
          <a:xfrm>
            <a:off x="9200000" y="2680000"/>
            <a:ext cx="500000" cy="340000"/>
          </a:xfrm>
          <a:prstGeom prst="right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7" name="Label JPA"/>
          <p:cNvSpPr txBox="1"/>
          <p:nvPr/>
        </p:nvSpPr>
        <p:spPr>
          <a:xfrm>
            <a:off x="9100000" y="23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JPA</a:t>
            </a:r>
          </a:p>
        </p:txBody>
      </p:sp>
      <p:sp>
        <p:nvSpPr>
          <p:cNvPr id="308" name="Arrow API to services 1"/>
          <p:cNvSpPr/>
          <p:nvPr/>
        </p:nvSpPr>
        <p:spPr>
          <a:xfrm>
            <a:off x="6900000" y="4230000"/>
            <a:ext cx="300000" cy="300000"/>
          </a:xfrm>
          <a:prstGeom prst="up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9" name="Arrow API to services 2"/>
          <p:cNvSpPr/>
          <p:nvPr/>
        </p:nvSpPr>
        <p:spPr>
          <a:xfrm>
            <a:off x="8800000" y="4230000"/>
            <a:ext cx="300000" cy="300000"/>
          </a:xfrm>
          <a:prstGeom prst="up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10" name="AI service"/>
          <p:cNvSpPr/>
          <p:nvPr/>
        </p:nvSpPr>
        <p:spPr>
          <a:xfrm>
            <a:off x="5800000" y="4550000"/>
            <a:ext cx="2800000" cy="125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60000" tIns="170000" rIns="100000" bIns="10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AI service</a:t>
            </a:r>
          </a:p>
          <a:p>
            <a:pPr algn="l" marL="0" indent="0">
              <a:spcBef>
                <a:spcPts val="5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Recommender and chatbot</a:t>
            </a:r>
          </a:p>
        </p:txBody>
      </p:sp>
      <p:sp>
        <p:nvSpPr>
          <p:cNvPr id="311" name="Notification service"/>
          <p:cNvSpPr/>
          <p:nvPr/>
        </p:nvSpPr>
        <p:spPr>
          <a:xfrm>
            <a:off x="8800000" y="4550000"/>
            <a:ext cx="2992000" cy="125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60000" tIns="170000" rIns="100000" bIns="10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Notification gateway</a:t>
            </a:r>
          </a:p>
          <a:p>
            <a:pPr algn="l" marL="0" indent="0">
              <a:spcBef>
                <a:spcPts val="5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Email and SMS alerts</a:t>
            </a:r>
          </a:p>
        </p:txBody>
      </p:sp>
      <p:sp>
        <p:nvSpPr>
          <p:cNvPr id="312" name="Typical flow"/>
          <p:cNvSpPr/>
          <p:nvPr/>
        </p:nvSpPr>
        <p:spPr>
          <a:xfrm>
            <a:off x="400000" y="4550000"/>
            <a:ext cx="5200000" cy="12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60000" tIns="170000" rIns="100000" bIns="10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Typical flow</a:t>
            </a:r>
          </a:p>
          <a:p>
            <a:pPr algn="l" marL="0" indent="0">
              <a:spcBef>
                <a:spcPts val="5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Browse  &gt;  Register  &gt;  QR ticket  &gt;  Check-in  &gt;  Feedback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Expected Results</a:t>
            </a:r>
          </a:p>
        </p:txBody>
      </p:sp>
      <p:sp>
        <p:nvSpPr>
          <p:cNvPr id="313" name="Head Discovery"/>
          <p:cNvSpPr/>
          <p:nvPr/>
        </p:nvSpPr>
        <p:spPr>
          <a:xfrm>
            <a:off x="400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</a:p>
        </p:txBody>
      </p:sp>
      <p:sp>
        <p:nvSpPr>
          <p:cNvPr id="314" name="Before Discovery"/>
          <p:cNvSpPr/>
          <p:nvPr/>
        </p:nvSpPr>
        <p:spPr>
          <a:xfrm>
            <a:off x="400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Posters and chat groups; many students miss events</a:t>
            </a:r>
          </a:p>
        </p:txBody>
      </p:sp>
      <p:sp>
        <p:nvSpPr>
          <p:cNvPr id="315" name="Arrow Discovery"/>
          <p:cNvSpPr/>
          <p:nvPr/>
        </p:nvSpPr>
        <p:spPr>
          <a:xfrm>
            <a:off x="1549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16" name="After Discovery"/>
          <p:cNvSpPr/>
          <p:nvPr/>
        </p:nvSpPr>
        <p:spPr>
          <a:xfrm>
            <a:off x="400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One searchable portal with filters and alerts</a:t>
            </a:r>
          </a:p>
        </p:txBody>
      </p:sp>
      <p:sp>
        <p:nvSpPr>
          <p:cNvPr id="317" name="Head Registration"/>
          <p:cNvSpPr/>
          <p:nvPr/>
        </p:nvSpPr>
        <p:spPr>
          <a:xfrm>
            <a:off x="3298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Registration</a:t>
            </a:r>
          </a:p>
        </p:txBody>
      </p:sp>
      <p:sp>
        <p:nvSpPr>
          <p:cNvPr id="318" name="Before Registration"/>
          <p:cNvSpPr/>
          <p:nvPr/>
        </p:nvSpPr>
        <p:spPr>
          <a:xfrm>
            <a:off x="3298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Paper forms and spreadsheets</a:t>
            </a:r>
          </a:p>
        </p:txBody>
      </p:sp>
      <p:sp>
        <p:nvSpPr>
          <p:cNvPr id="319" name="Arrow Registration"/>
          <p:cNvSpPr/>
          <p:nvPr/>
        </p:nvSpPr>
        <p:spPr>
          <a:xfrm>
            <a:off x="4447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20" name="After Registration"/>
          <p:cNvSpPr/>
          <p:nvPr/>
        </p:nvSpPr>
        <p:spPr>
          <a:xfrm>
            <a:off x="3298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One-click sign-up with seat and waitlist control</a:t>
            </a:r>
          </a:p>
        </p:txBody>
      </p:sp>
      <p:sp>
        <p:nvSpPr>
          <p:cNvPr id="321" name="Head Attendance"/>
          <p:cNvSpPr/>
          <p:nvPr/>
        </p:nvSpPr>
        <p:spPr>
          <a:xfrm>
            <a:off x="6196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Attendance</a:t>
            </a:r>
          </a:p>
        </p:txBody>
      </p:sp>
      <p:sp>
        <p:nvSpPr>
          <p:cNvPr id="322" name="Before Attendance"/>
          <p:cNvSpPr/>
          <p:nvPr/>
        </p:nvSpPr>
        <p:spPr>
          <a:xfrm>
            <a:off x="6196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Manual sign-in sheets</a:t>
            </a:r>
          </a:p>
        </p:txBody>
      </p:sp>
      <p:sp>
        <p:nvSpPr>
          <p:cNvPr id="323" name="Arrow Attendance"/>
          <p:cNvSpPr/>
          <p:nvPr/>
        </p:nvSpPr>
        <p:spPr>
          <a:xfrm>
            <a:off x="7345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24" name="After Attendance"/>
          <p:cNvSpPr/>
          <p:nvPr/>
        </p:nvSpPr>
        <p:spPr>
          <a:xfrm>
            <a:off x="6196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QR check-in with instant, verified records</a:t>
            </a:r>
          </a:p>
        </p:txBody>
      </p:sp>
      <p:sp>
        <p:nvSpPr>
          <p:cNvPr id="325" name="Head Feedback"/>
          <p:cNvSpPr/>
          <p:nvPr/>
        </p:nvSpPr>
        <p:spPr>
          <a:xfrm>
            <a:off x="9094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</a:p>
        </p:txBody>
      </p:sp>
      <p:sp>
        <p:nvSpPr>
          <p:cNvPr id="326" name="Before Feedback"/>
          <p:cNvSpPr/>
          <p:nvPr/>
        </p:nvSpPr>
        <p:spPr>
          <a:xfrm>
            <a:off x="9094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Rare and paper-based</a:t>
            </a:r>
          </a:p>
        </p:txBody>
      </p:sp>
      <p:sp>
        <p:nvSpPr>
          <p:cNvPr id="327" name="Arrow Feedback"/>
          <p:cNvSpPr/>
          <p:nvPr/>
        </p:nvSpPr>
        <p:spPr>
          <a:xfrm>
            <a:off x="10243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28" name="After Feedback"/>
          <p:cNvSpPr/>
          <p:nvPr/>
        </p:nvSpPr>
        <p:spPr>
          <a:xfrm>
            <a:off x="9094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Automated surveys, e-certificates and dashboards</a:t>
            </a:r>
          </a:p>
        </p:txBody>
      </p:sp>
      <p:sp>
        <p:nvSpPr>
          <p:cNvPr id="329" name="Outcome banner"/>
          <p:cNvSpPr/>
          <p:nvPr/>
        </p:nvSpPr>
        <p:spPr>
          <a:xfrm>
            <a:off x="400000" y="5550000"/>
            <a:ext cx="11392000" cy="650000"/>
          </a:xfrm>
          <a:prstGeom prst="roundRect">
            <a:avLst>
              <a:gd name="adj" fmla="val 20000"/>
            </a:avLst>
          </a:prstGeom>
          <a:solidFill>
            <a:srgbClr val="FFE500"/>
          </a:solidFill>
          <a:ln>
            <a:noFill/>
          </a:ln>
        </p:spPr>
        <p:txBody>
          <a:bodyPr wrap="square" lIns="228600" tIns="45720" rIns="228600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Outcome: </a:t>
            </a:r>
            <a:r>
              <a:rPr lang="en-US" sz="1600" b="0" i="0" dirty="0">
                <a:solidFill>
                  <a:srgbClr val="213163"/>
                </a:solidFill>
                <a:latin typeface="Arial"/>
                <a:cs typeface="Arial"/>
              </a:rPr>
              <a:t>less manual effort for organizers, higher student participation and data-driven event planning.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Conclusion</a:t>
            </a:r>
          </a:p>
        </p:txBody>
      </p:sp>
      <p:sp>
        <p:nvSpPr>
          <p:cNvPr id="330" name="Conclusion card"/>
          <p:cNvSpPr/>
          <p:nvPr/>
        </p:nvSpPr>
        <p:spPr>
          <a:xfrm>
            <a:off x="400000" y="1500000"/>
            <a:ext cx="5571000" cy="4650000"/>
          </a:xfrm>
          <a:prstGeom prst="roundRect">
            <a:avLst>
              <a:gd name="adj" fmla="val 5000"/>
            </a:avLst>
          </a:prstGeom>
          <a:solidFill>
            <a:srgbClr val="213163"/>
          </a:solidFill>
          <a:ln>
            <a:noFill/>
          </a:ln>
        </p:spPr>
        <p:txBody>
          <a:bodyPr wrap="square" lIns="300000" tIns="280000" rIns="250000" bIns="15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FFE500"/>
                </a:solidFill>
                <a:latin typeface="Arial"/>
                <a:cs typeface="Arial"/>
              </a:rPr>
              <a:t>Conclusion</a:t>
            </a:r>
          </a:p>
          <a:p>
            <a:pPr algn="l" marL="285750" indent="-285750">
              <a:spcBef>
                <a:spcPts val="1800"/>
              </a:spcBef>
              <a:buClr>
                <a:srgbClr val="FFE500"/>
              </a:buClr>
              <a:buFont typeface="Arial"/>
              <a:buChar char="•"/>
            </a:pPr>
            <a:r>
              <a:rPr lang="en-US" sz="2000" b="0" i="0" dirty="0">
                <a:solidFill>
                  <a:srgbClr val="FFFFFF"/>
                </a:solidFill>
                <a:latin typeface="Arial"/>
                <a:cs typeface="Arial"/>
              </a:rPr>
              <a:t>One platform now covers event discovery, registration, attendance and feedback.</a:t>
            </a:r>
          </a:p>
          <a:p>
            <a:pPr algn="l" marL="285750" indent="-285750">
              <a:spcBef>
                <a:spcPts val="1800"/>
              </a:spcBef>
              <a:buClr>
                <a:srgbClr val="FFE500"/>
              </a:buClr>
              <a:buFont typeface="Arial"/>
              <a:buChar char="•"/>
            </a:pPr>
            <a:r>
              <a:rPr lang="en-US" sz="2000" b="0" i="0" dirty="0">
                <a:solidFill>
                  <a:srgbClr val="FFFFFF"/>
                </a:solidFill>
                <a:latin typeface="Arial"/>
                <a:cs typeface="Arial"/>
              </a:rPr>
              <a:t>Organizers and admins spend far less time on manual coordination.</a:t>
            </a:r>
          </a:p>
          <a:p>
            <a:pPr algn="l" marL="285750" indent="-285750">
              <a:spcBef>
                <a:spcPts val="1800"/>
              </a:spcBef>
              <a:buClr>
                <a:srgbClr val="FFE500"/>
              </a:buClr>
              <a:buFont typeface="Arial"/>
              <a:buChar char="•"/>
            </a:pPr>
            <a:r>
              <a:rPr lang="en-US" sz="2000" b="0" i="0" dirty="0">
                <a:solidFill>
                  <a:srgbClr val="FFFFFF"/>
                </a:solidFill>
                <a:latin typeface="Arial"/>
                <a:cs typeface="Arial"/>
              </a:rPr>
              <a:t>Students get a single, reliable place to follow campus life.</a:t>
            </a:r>
          </a:p>
        </p:txBody>
      </p:sp>
      <p:sp>
        <p:nvSpPr>
          <p:cNvPr id="331" name="Future scope card"/>
          <p:cNvSpPr/>
          <p:nvPr/>
        </p:nvSpPr>
        <p:spPr>
          <a:xfrm>
            <a:off x="6221000" y="1500000"/>
            <a:ext cx="5571000" cy="465000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>
            <a:noFill/>
          </a:ln>
        </p:spPr>
        <p:txBody>
          <a:bodyPr wrap="square" lIns="300000" tIns="280000" rIns="250000" bIns="150000" rtlCol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213163"/>
                </a:solidFill>
                <a:latin typeface="Arial"/>
                <a:cs typeface="Arial"/>
              </a:rPr>
              <a:t>Future Scope</a:t>
            </a:r>
          </a:p>
          <a:p>
            <a:pPr algn="l" marL="285750" indent="-285750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Native mobile app with push notifications</a:t>
            </a:r>
          </a:p>
          <a:p>
            <a:pPr algn="l" marL="285750" indent="-285750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Integration with college ERP and ID cards</a:t>
            </a:r>
          </a:p>
          <a:p>
            <a:pPr algn="l" marL="285750" indent="-285750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Auto-generated participation e-certificates</a:t>
            </a:r>
          </a:p>
          <a:p>
            <a:pPr algn="l" marL="285750" indent="-285750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Predictive analytics for attendance and venue planning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9162bd5b-4ed9-4da3-b376-05204580ba3f"/>
    <ds:schemaRef ds:uri="http://purl.org/dc/elements/1.1/"/>
    <ds:schemaRef ds:uri="c0fa2617-96bd-425d-8578-e93563fe37c5"/>
    <ds:schemaRef ds:uri="http://schemas.microsoft.com/office/infopath/2007/PartnerControls"/>
    <ds:schemaRef ds:uri="http://purl.org/dc/dcmitype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754</Words>
  <Application>Microsoft Office PowerPoint</Application>
  <PresentationFormat>Widescreen</PresentationFormat>
  <Paragraphs>169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PowerPoint Presentation</vt:lpstr>
      <vt:lpstr>PowerPoint Presentation</vt:lpstr>
      <vt:lpstr>PowerPoint Presentation</vt:lpstr>
      <vt:lpstr>Table of Contents</vt:lpstr>
      <vt:lpstr>Heading 1</vt:lpstr>
      <vt:lpstr>Heading 2</vt:lpstr>
      <vt:lpstr>Heading 3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Helvin Mg</dc:creator>
  <cp:lastModifiedBy>sarath prakash</cp:lastModifiedBy>
  <cp:revision>26</cp:revision>
  <dcterms:modified xsi:type="dcterms:W3CDTF">2026-09-30T12:07:43Z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ADA14AB9-6E05-4AF1-84FB-ACE67E38F4B9</vt:lpwstr>
  </property>
  <property fmtid="{D5CDD505-2E9C-101B-9397-08002B2CF9AE}" pid="4" name="ArticulatePath">
    <vt:lpwstr>https://edunetfoundationorg-my.sharepoint.com/personal/kaisar_edunetfoundation_org/Documents/Beutified ppt/EY/Student showcase 2025/Master Class 2 - UI_UX Design Principles</vt:lpwstr>
  </property>
</Properties>
</file>