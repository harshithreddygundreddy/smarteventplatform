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7"/>
  </p:notesMasterIdLst>
  <p:sldIdLst>
    <p:sldId id="256" r:id="rId5"/>
    <p:sldId id="1249" r:id="rId6"/>
    <p:sldId id="1085" r:id="rId7"/>
    <p:sldId id="352" r:id="rId8"/>
    <p:sldId id="1251" r:id="rId9"/>
    <p:sldId id="1253" r:id="rId10"/>
    <p:sldId id="1254" r:id="rId11"/>
    <p:sldId id="1256" r:id="rId12"/>
    <p:sldId id="1257" r:id="rId13"/>
    <p:sldId id="1258" r:id="rId14"/>
    <p:sldId id="1259" r:id="rId15"/>
    <p:sldId id="1255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FE500"/>
    <a:srgbClr val="B9D0FF"/>
    <a:srgbClr val="034977"/>
    <a:srgbClr val="023558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" dt="2026-09-30T12:07:40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82" d="100"/>
          <a:sy n="82" d="100"/>
        </p:scale>
        <p:origin x="691" y="91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hekhar" userId="S::shashank@edunetfoundation.org::0008d1ff-90e7-469a-9966-0dcad996503d" providerId="AD" clId="Web-{00000000-0000-0000-0000-000000000000}"/>
    <pc:docChg chg="modSld">
      <pc:chgData name="Shashank Shekhar" userId="S::shashank@edunetfoundation.org::0008d1ff-90e7-469a-9966-0dcad996503d" providerId="AD" clId="Web-{00000000-0000-0000-0000-000000000000}" dt="2026-09-30T12:07:40.188" v="21" actId="20577"/>
      <pc:docMkLst>
        <pc:docMk/>
      </pc:docMkLst>
      <pc:sldChg chg="modSp">
        <pc:chgData name="Shashank Shekhar" userId="S::shashank@edunetfoundation.org::0008d1ff-90e7-469a-9966-0dcad996503d" providerId="AD" clId="Web-{00000000-0000-0000-0000-000000000000}" dt="2026-09-30T12:07:40.188" v="21" actId="20577"/>
        <pc:sldMkLst>
          <pc:docMk/>
          <pc:sldMk cId="0" sldId="256"/>
        </pc:sldMkLst>
        <pc:spChg chg="mod">
          <ac:chgData name="Shashank Shekhar" userId="S::shashank@edunetfoundation.org::0008d1ff-90e7-469a-9966-0dcad996503d" providerId="AD" clId="Web-{00000000-0000-0000-0000-000000000000}" dt="2026-09-30T12:07:40.188" v="21" actId="20577"/>
          <ac:spMkLst>
            <pc:docMk/>
            <pc:sldMk cId="0" sldId="256"/>
            <ac:spMk id="8" creationId="{1CFAFDC7-5FD4-AA0C-2C85-1B59ED6CD7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the audience and introduce the team, the college and the Next Gen Employability Program.</a:t>
            </a:r>
          </a:p>
          <a:p>
            <a:r>
              <a:t>State the project name: Smart Campus Event Platform.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title: Smart Campus Event Platform.</a:t>
            </a:r>
          </a:p>
          <a:p>
            <a:r>
              <a:t>One line pitch: a single web platform to discover, register for, attend and review campus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Walk through the agenda: problem, overview, solution, technology, system design and results, conclusion and references.</a:t>
            </a:r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8CA52B4-AFE7-436D-10A5-33BBC2F8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0EAD850-4C0A-4D1F-54F8-C5F959A15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Explain the four pain points: scattered information, manual registration, no attendance tracking, and no feedback or insights.</a:t>
            </a:r>
          </a:p>
          <a:p>
            <a:r>
              <a:t>Use a real example from your own campus, such as a fest or workshop that few people knew about.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11DB8B2-672C-460F-29D3-0F2797996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4303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E1FC1B1-B44F-F795-8CE0-8A1E5FA3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6FCACB7-6330-511A-DC41-2FCC5B286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Objective: one unified platform for the whole event lifecycle.</a:t>
            </a:r>
          </a:p>
          <a:p>
            <a:r>
              <a:t>Cover the three user roles: students discover and register, organizers create and track, administrators approve and analyse.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3B2F108-3E8E-8CB3-D39C-2E5E2EE72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153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6A3C39-E505-849D-072B-5A72E5B2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CA75921-0A6B-4147-FFE3-27787B5DA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Describe the four-step flow: discover, register, attend, feedback.</a:t>
            </a:r>
          </a:p>
          <a:p>
            <a:r>
              <a:t>Then explain the AI add-ons: recommendations, chatbot and clash-free scheduling.</a:t>
            </a:r>
          </a:p>
          <a:p>
            <a:r>
              <a:t>Note that the AI features are enhancements built after the core platform works.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F44E0A6D-AE05-66D4-3151-9ADBBF81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2352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Frontend: React. Backend: Java 17 with Spring Boot. Database: MySQL.</a:t>
            </a:r>
          </a:p>
          <a:p>
            <a:r>
              <a:t>Security: Spring Security with JWT and role-based access.</a:t>
            </a:r>
          </a:p>
          <a:p>
            <a:r>
              <a:t>AI services: a content-based recommender and an LLM chatbot exposed over REST. Tools: Git, Maven, Postman, Docker.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right: users, React web client, Spring Boot REST API, MySQL database.</a:t>
            </a:r>
          </a:p>
          <a:p>
            <a:r>
              <a:t>Below the API sit the supporting services: AI recommender/chatbot and email or SMS notifications.</a:t>
            </a:r>
          </a:p>
          <a:p>
            <a:r>
              <a:t>Mention the layered MVC design and stateless JWT security.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compares the manual process today with the expected outcome of the platform.</a:t>
            </a:r>
          </a:p>
          <a:p>
            <a:r>
              <a:t>These are design goals. Replace or extend with measured results (registrations, check-ins, feedback response rate) once the prototype is tested.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Summarise: one platform for the full event lifecycle, less manual work, one reliable place for students.</a:t>
            </a:r>
          </a:p>
          <a:p>
            <a:r>
              <a:t>Close with future scope: mobile app, ERP integration, e-certificates and predictive analytics.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List the documentation used for the technologies in this project.</a:t>
            </a:r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jwt.io/introduction" TargetMode="External"/><Relationship Id="rId3" Type="http://schemas.openxmlformats.org/officeDocument/2006/relationships/notesSlide" Target="../notesSlides/notesSlide12.xml"/><Relationship Id="rId7" Type="http://schemas.openxmlformats.org/officeDocument/2006/relationships/hyperlink" Target="https://dev.mysql.com/doc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docs.spring.io/spring-security/reference/" TargetMode="External"/><Relationship Id="rId4" Type="http://schemas.openxmlformats.org/officeDocument/2006/relationships/hyperlink" Target="https://spring.io/projects/spring-boo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6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SMART CAMPUS EVENT PLATFORM</a:t>
            </a:r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992572" y="4519689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i="1" dirty="0">
                <a:solidFill>
                  <a:srgbClr val="023558"/>
                </a:solidFill>
              </a:rPr>
              <a:t>Presented by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1879600" y="4880000"/>
            <a:ext cx="25000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dirty="0" err="1">
                <a:solidFill>
                  <a:srgbClr val="023558"/>
                </a:solidFill>
              </a:rPr>
              <a:t>G.Harshith</a:t>
            </a:r>
            <a:r>
              <a:rPr lang="en-US" sz="1400" i="1" dirty="0">
                <a:solidFill>
                  <a:srgbClr val="023558"/>
                </a:solidFill>
              </a:rPr>
              <a:t> Reddy</a:t>
            </a:r>
          </a:p>
          <a:p>
            <a:r>
              <a:rPr lang="en-US" sz="1400" i="1" dirty="0" err="1">
                <a:solidFill>
                  <a:srgbClr val="023558"/>
                </a:solidFill>
              </a:rPr>
              <a:t>G.Gowtham</a:t>
            </a:r>
            <a:r>
              <a:rPr lang="en-US" sz="1400" i="1" dirty="0">
                <a:solidFill>
                  <a:srgbClr val="023558"/>
                </a:solidFill>
              </a:rPr>
              <a:t> Varma</a:t>
            </a:r>
          </a:p>
          <a:p>
            <a:r>
              <a:rPr lang="en-US" sz="1400" i="1" dirty="0" err="1">
                <a:solidFill>
                  <a:srgbClr val="023558"/>
                </a:solidFill>
              </a:rPr>
              <a:t>G.Abhishek</a:t>
            </a:r>
            <a:endParaRPr lang="en-US" sz="1400" i="1" dirty="0">
              <a:solidFill>
                <a:srgbClr val="023558"/>
              </a:solidFill>
            </a:endParaRPr>
          </a:p>
          <a:p>
            <a:r>
              <a:rPr lang="en-US" sz="1400" i="1" dirty="0" err="1">
                <a:solidFill>
                  <a:srgbClr val="023558"/>
                </a:solidFill>
              </a:rPr>
              <a:t>K.Bhanu</a:t>
            </a:r>
            <a:r>
              <a:rPr lang="en-US" sz="1400" i="1">
                <a:solidFill>
                  <a:srgbClr val="023558"/>
                </a:solidFill>
              </a:rPr>
              <a:t> Sathyam</a:t>
            </a:r>
            <a:endParaRPr lang="en-US" sz="1400" i="1" dirty="0">
              <a:solidFill>
                <a:srgbClr val="023558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3167861" y="3251436"/>
            <a:ext cx="69189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5E3FF"/>
                </a:solidFill>
              </a:rPr>
              <a:t>Smart Campus Event Platform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>
                <a:solidFill>
                  <a:srgbClr val="213163"/>
                </a:solidFill>
              </a:rPr>
              <a:t>Table of Contents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74709" y="1295647"/>
            <a:ext cx="5754564" cy="3537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800"/>
              </a:spcBef>
              <a:buClr>
                <a:srgbClr val="213163"/>
              </a:buClr>
            </a:pP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Problem Statement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Project Overview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Proposed Solution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Technology used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System Design &amp; Results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Conclusion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endParaRPr lang="en-US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F2F38-51BB-3F9C-89B0-2467CA6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</a:p>
        </p:txBody>
      </p:sp>
      <p:sp>
        <p:nvSpPr>
          <p:cNvPr id="201" name="Problem summary"/>
          <p:cNvSpPr/>
          <p:nvPr/>
        </p:nvSpPr>
        <p:spPr>
          <a:xfrm>
            <a:off x="400000" y="1450000"/>
            <a:ext cx="11392000" cy="8500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13163"/>
                </a:solidFill>
                <a:latin typeface="Arial"/>
                <a:cs typeface="Arial"/>
              </a:rPr>
              <a:t>Campus events live on notice boards, social groups and spreadsheets. Students miss relevant events and organizers struggle to manage them.</a:t>
            </a:r>
          </a:p>
        </p:txBody>
      </p:sp>
      <p:sp>
        <p:nvSpPr>
          <p:cNvPr id="202" name="Card 1"/>
          <p:cNvSpPr/>
          <p:nvPr/>
        </p:nvSpPr>
        <p:spPr>
          <a:xfrm>
            <a:off x="400000" y="255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03" name="Number 1"/>
          <p:cNvSpPr/>
          <p:nvPr/>
        </p:nvSpPr>
        <p:spPr>
          <a:xfrm>
            <a:off x="620000" y="277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4" name="Card title 1"/>
          <p:cNvSpPr txBox="1"/>
          <p:nvPr/>
        </p:nvSpPr>
        <p:spPr>
          <a:xfrm>
            <a:off x="1400000" y="274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Scattered information</a:t>
            </a:r>
          </a:p>
        </p:txBody>
      </p:sp>
      <p:sp>
        <p:nvSpPr>
          <p:cNvPr id="205" name="Card text 1"/>
          <p:cNvSpPr txBox="1"/>
          <p:nvPr/>
        </p:nvSpPr>
        <p:spPr>
          <a:xfrm>
            <a:off x="1400000" y="319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Events are announced on posters, chat groups and emails, so many students never hear about them.</a:t>
            </a:r>
          </a:p>
        </p:txBody>
      </p:sp>
      <p:sp>
        <p:nvSpPr>
          <p:cNvPr id="206" name="Card 2"/>
          <p:cNvSpPr/>
          <p:nvPr/>
        </p:nvSpPr>
        <p:spPr>
          <a:xfrm>
            <a:off x="6221000" y="255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07" name="Number 2"/>
          <p:cNvSpPr/>
          <p:nvPr/>
        </p:nvSpPr>
        <p:spPr>
          <a:xfrm>
            <a:off x="6441000" y="277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8" name="Card title 2"/>
          <p:cNvSpPr txBox="1"/>
          <p:nvPr/>
        </p:nvSpPr>
        <p:spPr>
          <a:xfrm>
            <a:off x="7221000" y="274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Manual registration</a:t>
            </a:r>
          </a:p>
        </p:txBody>
      </p:sp>
      <p:sp>
        <p:nvSpPr>
          <p:cNvPr id="209" name="Card text 2"/>
          <p:cNvSpPr txBox="1"/>
          <p:nvPr/>
        </p:nvSpPr>
        <p:spPr>
          <a:xfrm>
            <a:off x="7221000" y="319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Paper forms and spreadsheets cause duplicate entries, errors and slow approvals.</a:t>
            </a:r>
          </a:p>
        </p:txBody>
      </p:sp>
      <p:sp>
        <p:nvSpPr>
          <p:cNvPr id="210" name="Card 3"/>
          <p:cNvSpPr/>
          <p:nvPr/>
        </p:nvSpPr>
        <p:spPr>
          <a:xfrm>
            <a:off x="400000" y="440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11" name="Number 3"/>
          <p:cNvSpPr/>
          <p:nvPr/>
        </p:nvSpPr>
        <p:spPr>
          <a:xfrm>
            <a:off x="620000" y="462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2" name="Card title 3"/>
          <p:cNvSpPr txBox="1"/>
          <p:nvPr/>
        </p:nvSpPr>
        <p:spPr>
          <a:xfrm>
            <a:off x="1400000" y="459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No attendance tracking</a:t>
            </a:r>
          </a:p>
        </p:txBody>
      </p:sp>
      <p:sp>
        <p:nvSpPr>
          <p:cNvPr id="213" name="Card text 3"/>
          <p:cNvSpPr txBox="1"/>
          <p:nvPr/>
        </p:nvSpPr>
        <p:spPr>
          <a:xfrm>
            <a:off x="1400000" y="504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Organizers cannot quickly verify who attended or issue proof of participation.</a:t>
            </a:r>
          </a:p>
        </p:txBody>
      </p:sp>
      <p:sp>
        <p:nvSpPr>
          <p:cNvPr id="214" name="Card 4"/>
          <p:cNvSpPr/>
          <p:nvPr/>
        </p:nvSpPr>
        <p:spPr>
          <a:xfrm>
            <a:off x="6221000" y="4400000"/>
            <a:ext cx="5571000" cy="16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15" name="Number 4"/>
          <p:cNvSpPr/>
          <p:nvPr/>
        </p:nvSpPr>
        <p:spPr>
          <a:xfrm>
            <a:off x="6441000" y="4620000"/>
            <a:ext cx="580000" cy="5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E5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16" name="Card title 4"/>
          <p:cNvSpPr txBox="1"/>
          <p:nvPr/>
        </p:nvSpPr>
        <p:spPr>
          <a:xfrm>
            <a:off x="7221000" y="4590000"/>
            <a:ext cx="4371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No feedback or insights</a:t>
            </a:r>
          </a:p>
        </p:txBody>
      </p:sp>
      <p:sp>
        <p:nvSpPr>
          <p:cNvPr id="217" name="Card text 4"/>
          <p:cNvSpPr txBox="1"/>
          <p:nvPr/>
        </p:nvSpPr>
        <p:spPr>
          <a:xfrm>
            <a:off x="7221000" y="5040000"/>
            <a:ext cx="4321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Admins lack data on turnout, interest and venue usage to plan future events.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606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9A1CF19-477C-5C17-FA78-34A1ABC1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475BC786-E92C-DE4A-EE1E-7D4D449C21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Project Overview</a:t>
            </a:r>
          </a:p>
        </p:txBody>
      </p:sp>
      <p:sp>
        <p:nvSpPr>
          <p:cNvPr id="218" name="Objective"/>
          <p:cNvSpPr/>
          <p:nvPr/>
        </p:nvSpPr>
        <p:spPr>
          <a:xfrm>
            <a:off x="400000" y="1450000"/>
            <a:ext cx="11392000" cy="1000000"/>
          </a:xfrm>
          <a:prstGeom prst="roundRect">
            <a:avLst>
              <a:gd name="adj" fmla="val 12000"/>
            </a:avLst>
          </a:prstGeom>
          <a:solidFill>
            <a:srgbClr val="213163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Objective: </a:t>
            </a:r>
            <a:r>
              <a:rPr lang="en-US" sz="1600" b="0" i="0" dirty="0">
                <a:solidFill>
                  <a:srgbClr val="FFFFFF"/>
                </a:solidFill>
                <a:latin typeface="Arial"/>
                <a:cs typeface="Arial"/>
              </a:rPr>
              <a:t>build one unified web platform where campus events are discovered, registered for, attended and reviewed.</a:t>
            </a:r>
          </a:p>
        </p:txBody>
      </p:sp>
      <p:sp>
        <p:nvSpPr>
          <p:cNvPr id="219" name="Role card Students"/>
          <p:cNvSpPr/>
          <p:nvPr/>
        </p:nvSpPr>
        <p:spPr>
          <a:xfrm>
            <a:off x="400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0" name="Role icon Students"/>
          <p:cNvSpPr/>
          <p:nvPr/>
        </p:nvSpPr>
        <p:spPr>
          <a:xfrm>
            <a:off x="650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221" name="Role title Students"/>
          <p:cNvSpPr txBox="1"/>
          <p:nvPr/>
        </p:nvSpPr>
        <p:spPr>
          <a:xfrm>
            <a:off x="1450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Students</a:t>
            </a:r>
          </a:p>
        </p:txBody>
      </p:sp>
      <p:sp>
        <p:nvSpPr>
          <p:cNvPr id="222" name="Role list Students"/>
          <p:cNvSpPr txBox="1"/>
          <p:nvPr/>
        </p:nvSpPr>
        <p:spPr>
          <a:xfrm>
            <a:off x="650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Browse and search events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One-click registration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QR e-ticket and reminders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Personal event calendar</a:t>
            </a:r>
          </a:p>
        </p:txBody>
      </p:sp>
      <p:sp>
        <p:nvSpPr>
          <p:cNvPr id="223" name="Role card Organizers"/>
          <p:cNvSpPr/>
          <p:nvPr/>
        </p:nvSpPr>
        <p:spPr>
          <a:xfrm>
            <a:off x="4281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4" name="Role icon Organizers"/>
          <p:cNvSpPr/>
          <p:nvPr/>
        </p:nvSpPr>
        <p:spPr>
          <a:xfrm>
            <a:off x="4531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225" name="Role title Organizers"/>
          <p:cNvSpPr txBox="1"/>
          <p:nvPr/>
        </p:nvSpPr>
        <p:spPr>
          <a:xfrm>
            <a:off x="5331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Organizers</a:t>
            </a:r>
          </a:p>
        </p:txBody>
      </p:sp>
      <p:sp>
        <p:nvSpPr>
          <p:cNvPr id="226" name="Role list Organizers"/>
          <p:cNvSpPr txBox="1"/>
          <p:nvPr/>
        </p:nvSpPr>
        <p:spPr>
          <a:xfrm>
            <a:off x="4531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Create and publish events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Track registrations live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QR check-in at the venue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Post-event feedback reports</a:t>
            </a:r>
          </a:p>
        </p:txBody>
      </p:sp>
      <p:sp>
        <p:nvSpPr>
          <p:cNvPr id="227" name="Role card Administrators"/>
          <p:cNvSpPr/>
          <p:nvPr/>
        </p:nvSpPr>
        <p:spPr>
          <a:xfrm>
            <a:off x="8162000" y="2750000"/>
            <a:ext cx="3630000" cy="3400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28" name="Role icon Administrators"/>
          <p:cNvSpPr/>
          <p:nvPr/>
        </p:nvSpPr>
        <p:spPr>
          <a:xfrm>
            <a:off x="8412000" y="3000000"/>
            <a:ext cx="640000" cy="64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 i="0" dirty="0">
                <a:solidFill>
                  <a:srgbClr val="FFE500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229" name="Role title Administrators"/>
          <p:cNvSpPr txBox="1"/>
          <p:nvPr/>
        </p:nvSpPr>
        <p:spPr>
          <a:xfrm>
            <a:off x="9212000" y="3130000"/>
            <a:ext cx="24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Administrators</a:t>
            </a:r>
          </a:p>
        </p:txBody>
      </p:sp>
      <p:sp>
        <p:nvSpPr>
          <p:cNvPr id="230" name="Role list Administrators"/>
          <p:cNvSpPr txBox="1"/>
          <p:nvPr/>
        </p:nvSpPr>
        <p:spPr>
          <a:xfrm>
            <a:off x="8412000" y="3950000"/>
            <a:ext cx="31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spcBef>
                <a:spcPts val="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Approve events and venues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Manage users and roles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Avoid venue clashes</a:t>
            </a:r>
          </a:p>
          <a:p>
            <a:pPr marL="285750" indent="-285750" algn="l">
              <a:spcBef>
                <a:spcPts val="9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Campus-wide analytics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806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D828F6-D11A-004C-6B1C-7342E3C2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01B87DF3-C5CE-63DD-4007-1F1C71D37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Proposed Solution</a:t>
            </a:r>
          </a:p>
        </p:txBody>
      </p:sp>
      <p:sp>
        <p:nvSpPr>
          <p:cNvPr id="231" name="Step 1"/>
          <p:cNvSpPr/>
          <p:nvPr/>
        </p:nvSpPr>
        <p:spPr>
          <a:xfrm>
            <a:off x="400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1  Discover</a:t>
            </a:r>
          </a:p>
        </p:txBody>
      </p:sp>
      <p:sp>
        <p:nvSpPr>
          <p:cNvPr id="232" name="Step text 1"/>
          <p:cNvSpPr txBox="1"/>
          <p:nvPr/>
        </p:nvSpPr>
        <p:spPr>
          <a:xfrm>
            <a:off x="460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Browse, filter and search upcoming events by category, date and club.</a:t>
            </a:r>
          </a:p>
        </p:txBody>
      </p:sp>
      <p:sp>
        <p:nvSpPr>
          <p:cNvPr id="233" name="Step 2"/>
          <p:cNvSpPr/>
          <p:nvPr/>
        </p:nvSpPr>
        <p:spPr>
          <a:xfrm>
            <a:off x="3257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2  Register</a:t>
            </a:r>
          </a:p>
        </p:txBody>
      </p:sp>
      <p:sp>
        <p:nvSpPr>
          <p:cNvPr id="234" name="Step text 2"/>
          <p:cNvSpPr txBox="1"/>
          <p:nvPr/>
        </p:nvSpPr>
        <p:spPr>
          <a:xfrm>
            <a:off x="3317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Sign up in one click. Seats, waitlists and approvals are handled automatically.</a:t>
            </a:r>
          </a:p>
        </p:txBody>
      </p:sp>
      <p:sp>
        <p:nvSpPr>
          <p:cNvPr id="235" name="Step 3"/>
          <p:cNvSpPr/>
          <p:nvPr/>
        </p:nvSpPr>
        <p:spPr>
          <a:xfrm>
            <a:off x="6114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3  Attend</a:t>
            </a:r>
          </a:p>
        </p:txBody>
      </p:sp>
      <p:sp>
        <p:nvSpPr>
          <p:cNvPr id="236" name="Step text 3"/>
          <p:cNvSpPr txBox="1"/>
          <p:nvPr/>
        </p:nvSpPr>
        <p:spPr>
          <a:xfrm>
            <a:off x="6174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Scan the QR e-ticket at the venue for instant, verified attendance.</a:t>
            </a:r>
          </a:p>
        </p:txBody>
      </p:sp>
      <p:sp>
        <p:nvSpPr>
          <p:cNvPr id="237" name="Step 4"/>
          <p:cNvSpPr/>
          <p:nvPr/>
        </p:nvSpPr>
        <p:spPr>
          <a:xfrm>
            <a:off x="8971000" y="1500000"/>
            <a:ext cx="2820000" cy="750000"/>
          </a:xfrm>
          <a:prstGeom prst="homePlate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0" rIns="25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4  Feedback</a:t>
            </a:r>
          </a:p>
        </p:txBody>
      </p:sp>
      <p:sp>
        <p:nvSpPr>
          <p:cNvPr id="238" name="Step text 4"/>
          <p:cNvSpPr txBox="1"/>
          <p:nvPr/>
        </p:nvSpPr>
        <p:spPr>
          <a:xfrm>
            <a:off x="9031000" y="2380000"/>
            <a:ext cx="26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Rate events, download certificates and give organizers useful insights.</a:t>
            </a:r>
          </a:p>
        </p:txBody>
      </p:sp>
      <p:sp>
        <p:nvSpPr>
          <p:cNvPr id="239" name="AI heading"/>
          <p:cNvSpPr txBox="1"/>
          <p:nvPr/>
        </p:nvSpPr>
        <p:spPr>
          <a:xfrm>
            <a:off x="400000" y="3700000"/>
            <a:ext cx="11392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213163"/>
                </a:solidFill>
                <a:latin typeface="Arial"/>
                <a:cs typeface="Arial"/>
              </a:rPr>
              <a:t>AI-powered enhancements</a:t>
            </a:r>
          </a:p>
        </p:txBody>
      </p:sp>
      <p:sp>
        <p:nvSpPr>
          <p:cNvPr id="240" name="AI card 1"/>
          <p:cNvSpPr/>
          <p:nvPr/>
        </p:nvSpPr>
        <p:spPr>
          <a:xfrm>
            <a:off x="400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1" name="AI number 1"/>
          <p:cNvSpPr/>
          <p:nvPr/>
        </p:nvSpPr>
        <p:spPr>
          <a:xfrm>
            <a:off x="620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42" name="AI title 1"/>
          <p:cNvSpPr txBox="1"/>
          <p:nvPr/>
        </p:nvSpPr>
        <p:spPr>
          <a:xfrm>
            <a:off x="1250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Smart recommendations</a:t>
            </a:r>
          </a:p>
        </p:txBody>
      </p:sp>
      <p:sp>
        <p:nvSpPr>
          <p:cNvPr id="243" name="AI text 1"/>
          <p:cNvSpPr txBox="1"/>
          <p:nvPr/>
        </p:nvSpPr>
        <p:spPr>
          <a:xfrm>
            <a:off x="620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Suggests events based on interests and past attendance.</a:t>
            </a:r>
          </a:p>
        </p:txBody>
      </p:sp>
      <p:sp>
        <p:nvSpPr>
          <p:cNvPr id="244" name="AI card 2"/>
          <p:cNvSpPr/>
          <p:nvPr/>
        </p:nvSpPr>
        <p:spPr>
          <a:xfrm>
            <a:off x="4281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5" name="AI number 2"/>
          <p:cNvSpPr/>
          <p:nvPr/>
        </p:nvSpPr>
        <p:spPr>
          <a:xfrm>
            <a:off x="4501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6" name="AI title 2"/>
          <p:cNvSpPr txBox="1"/>
          <p:nvPr/>
        </p:nvSpPr>
        <p:spPr>
          <a:xfrm>
            <a:off x="5131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Campus chatbot</a:t>
            </a:r>
          </a:p>
        </p:txBody>
      </p:sp>
      <p:sp>
        <p:nvSpPr>
          <p:cNvPr id="247" name="AI text 2"/>
          <p:cNvSpPr txBox="1"/>
          <p:nvPr/>
        </p:nvSpPr>
        <p:spPr>
          <a:xfrm>
            <a:off x="4501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Answers event FAQs, timings and venue questions instantly.</a:t>
            </a:r>
          </a:p>
        </p:txBody>
      </p:sp>
      <p:sp>
        <p:nvSpPr>
          <p:cNvPr id="248" name="AI card 3"/>
          <p:cNvSpPr/>
          <p:nvPr/>
        </p:nvSpPr>
        <p:spPr>
          <a:xfrm>
            <a:off x="8162000" y="4250000"/>
            <a:ext cx="3630000" cy="1950000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49" name="AI number 3"/>
          <p:cNvSpPr/>
          <p:nvPr/>
        </p:nvSpPr>
        <p:spPr>
          <a:xfrm>
            <a:off x="8382000" y="4450000"/>
            <a:ext cx="460000" cy="460000"/>
          </a:xfrm>
          <a:prstGeom prst="ellipse">
            <a:avLst/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50" name="AI title 3"/>
          <p:cNvSpPr txBox="1"/>
          <p:nvPr/>
        </p:nvSpPr>
        <p:spPr>
          <a:xfrm>
            <a:off x="9012000" y="4480000"/>
            <a:ext cx="263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Clash-free scheduling</a:t>
            </a:r>
          </a:p>
        </p:txBody>
      </p:sp>
      <p:sp>
        <p:nvSpPr>
          <p:cNvPr id="251" name="AI text 3"/>
          <p:cNvSpPr txBox="1"/>
          <p:nvPr/>
        </p:nvSpPr>
        <p:spPr>
          <a:xfrm>
            <a:off x="8382000" y="5050000"/>
            <a:ext cx="319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2B2F3A"/>
                </a:solidFill>
                <a:latin typeface="Arial"/>
                <a:cs typeface="Arial"/>
              </a:rPr>
              <a:t>Detects venue and time conflicts before events go live.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23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Technology Used</a:t>
            </a:r>
          </a:p>
        </p:txBody>
      </p:sp>
      <p:sp>
        <p:nvSpPr>
          <p:cNvPr id="252" name="Track Frontend"/>
          <p:cNvSpPr/>
          <p:nvPr/>
        </p:nvSpPr>
        <p:spPr>
          <a:xfrm>
            <a:off x="400000" y="15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53" name="Label Frontend"/>
          <p:cNvSpPr/>
          <p:nvPr/>
        </p:nvSpPr>
        <p:spPr>
          <a:xfrm>
            <a:off x="400000" y="15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254" name="Icon Frontend"/>
          <p:cNvSpPr/>
          <p:nvPr/>
        </p:nvSpPr>
        <p:spPr>
          <a:xfrm>
            <a:off x="570000" y="16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UI</a:t>
            </a:r>
          </a:p>
        </p:txBody>
      </p:sp>
      <p:sp>
        <p:nvSpPr>
          <p:cNvPr id="255" name="Chip React.js"/>
          <p:cNvSpPr/>
          <p:nvPr/>
        </p:nvSpPr>
        <p:spPr>
          <a:xfrm>
            <a:off x="3300000" y="1620000"/>
            <a:ext cx="11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React.js</a:t>
            </a:r>
          </a:p>
        </p:txBody>
      </p:sp>
      <p:sp>
        <p:nvSpPr>
          <p:cNvPr id="256" name="Chip Axios"/>
          <p:cNvSpPr/>
          <p:nvPr/>
        </p:nvSpPr>
        <p:spPr>
          <a:xfrm>
            <a:off x="4640000" y="16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Axios</a:t>
            </a:r>
          </a:p>
        </p:txBody>
      </p:sp>
      <p:sp>
        <p:nvSpPr>
          <p:cNvPr id="257" name="Chip HTML5 / CSS3"/>
          <p:cNvSpPr/>
          <p:nvPr/>
        </p:nvSpPr>
        <p:spPr>
          <a:xfrm>
            <a:off x="5680000" y="16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HTML5 / CSS3</a:t>
            </a:r>
          </a:p>
        </p:txBody>
      </p:sp>
      <p:sp>
        <p:nvSpPr>
          <p:cNvPr id="258" name="Chip Bootstrap"/>
          <p:cNvSpPr/>
          <p:nvPr/>
        </p:nvSpPr>
        <p:spPr>
          <a:xfrm>
            <a:off x="7420000" y="16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Bootstrap</a:t>
            </a:r>
          </a:p>
        </p:txBody>
      </p:sp>
      <p:sp>
        <p:nvSpPr>
          <p:cNvPr id="259" name="Track Backend"/>
          <p:cNvSpPr/>
          <p:nvPr/>
        </p:nvSpPr>
        <p:spPr>
          <a:xfrm>
            <a:off x="400000" y="23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60" name="Label Backend"/>
          <p:cNvSpPr/>
          <p:nvPr/>
        </p:nvSpPr>
        <p:spPr>
          <a:xfrm>
            <a:off x="400000" y="23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261" name="Icon Backend"/>
          <p:cNvSpPr/>
          <p:nvPr/>
        </p:nvSpPr>
        <p:spPr>
          <a:xfrm>
            <a:off x="570000" y="24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BE</a:t>
            </a:r>
          </a:p>
        </p:txBody>
      </p:sp>
      <p:sp>
        <p:nvSpPr>
          <p:cNvPr id="262" name="Chip Java 17"/>
          <p:cNvSpPr/>
          <p:nvPr/>
        </p:nvSpPr>
        <p:spPr>
          <a:xfrm>
            <a:off x="3300000" y="2420000"/>
            <a:ext cx="10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Java 17</a:t>
            </a:r>
          </a:p>
        </p:txBody>
      </p:sp>
      <p:sp>
        <p:nvSpPr>
          <p:cNvPr id="263" name="Chip Spring Boot"/>
          <p:cNvSpPr/>
          <p:nvPr/>
        </p:nvSpPr>
        <p:spPr>
          <a:xfrm>
            <a:off x="4540000" y="2420000"/>
            <a:ext cx="14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Boot</a:t>
            </a:r>
          </a:p>
        </p:txBody>
      </p:sp>
      <p:sp>
        <p:nvSpPr>
          <p:cNvPr id="264" name="Chip Spring MVC"/>
          <p:cNvSpPr/>
          <p:nvPr/>
        </p:nvSpPr>
        <p:spPr>
          <a:xfrm>
            <a:off x="6180000" y="2420000"/>
            <a:ext cx="13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MVC</a:t>
            </a:r>
          </a:p>
        </p:txBody>
      </p:sp>
      <p:sp>
        <p:nvSpPr>
          <p:cNvPr id="265" name="Chip REST APIs"/>
          <p:cNvSpPr/>
          <p:nvPr/>
        </p:nvSpPr>
        <p:spPr>
          <a:xfrm>
            <a:off x="7720000" y="24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REST APIs</a:t>
            </a:r>
          </a:p>
        </p:txBody>
      </p:sp>
      <p:sp>
        <p:nvSpPr>
          <p:cNvPr id="266" name="Track Database"/>
          <p:cNvSpPr/>
          <p:nvPr/>
        </p:nvSpPr>
        <p:spPr>
          <a:xfrm>
            <a:off x="400000" y="31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67" name="Label Database"/>
          <p:cNvSpPr/>
          <p:nvPr/>
        </p:nvSpPr>
        <p:spPr>
          <a:xfrm>
            <a:off x="400000" y="31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</a:p>
        </p:txBody>
      </p:sp>
      <p:sp>
        <p:nvSpPr>
          <p:cNvPr id="268" name="Icon Database"/>
          <p:cNvSpPr/>
          <p:nvPr/>
        </p:nvSpPr>
        <p:spPr>
          <a:xfrm>
            <a:off x="570000" y="32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DB</a:t>
            </a:r>
          </a:p>
        </p:txBody>
      </p:sp>
      <p:sp>
        <p:nvSpPr>
          <p:cNvPr id="269" name="Chip MySQL"/>
          <p:cNvSpPr/>
          <p:nvPr/>
        </p:nvSpPr>
        <p:spPr>
          <a:xfrm>
            <a:off x="3300000" y="32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MySQL</a:t>
            </a:r>
          </a:p>
        </p:txBody>
      </p:sp>
      <p:sp>
        <p:nvSpPr>
          <p:cNvPr id="270" name="Chip Spring Data JPA"/>
          <p:cNvSpPr/>
          <p:nvPr/>
        </p:nvSpPr>
        <p:spPr>
          <a:xfrm>
            <a:off x="4340000" y="32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Data JPA</a:t>
            </a:r>
          </a:p>
        </p:txBody>
      </p:sp>
      <p:sp>
        <p:nvSpPr>
          <p:cNvPr id="271" name="Chip Hibernate"/>
          <p:cNvSpPr/>
          <p:nvPr/>
        </p:nvSpPr>
        <p:spPr>
          <a:xfrm>
            <a:off x="6380000" y="3220000"/>
            <a:ext cx="12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Hibernate</a:t>
            </a:r>
          </a:p>
        </p:txBody>
      </p:sp>
      <p:sp>
        <p:nvSpPr>
          <p:cNvPr id="272" name="Track Security"/>
          <p:cNvSpPr/>
          <p:nvPr/>
        </p:nvSpPr>
        <p:spPr>
          <a:xfrm>
            <a:off x="400000" y="39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73" name="Label Security"/>
          <p:cNvSpPr/>
          <p:nvPr/>
        </p:nvSpPr>
        <p:spPr>
          <a:xfrm>
            <a:off x="400000" y="39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</a:p>
        </p:txBody>
      </p:sp>
      <p:sp>
        <p:nvSpPr>
          <p:cNvPr id="274" name="Icon Security"/>
          <p:cNvSpPr/>
          <p:nvPr/>
        </p:nvSpPr>
        <p:spPr>
          <a:xfrm>
            <a:off x="570000" y="40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SEC</a:t>
            </a:r>
          </a:p>
        </p:txBody>
      </p:sp>
      <p:sp>
        <p:nvSpPr>
          <p:cNvPr id="275" name="Chip Spring Security"/>
          <p:cNvSpPr/>
          <p:nvPr/>
        </p:nvSpPr>
        <p:spPr>
          <a:xfrm>
            <a:off x="3300000" y="40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Spring Security</a:t>
            </a:r>
          </a:p>
        </p:txBody>
      </p:sp>
      <p:sp>
        <p:nvSpPr>
          <p:cNvPr id="276" name="Chip JWT"/>
          <p:cNvSpPr/>
          <p:nvPr/>
        </p:nvSpPr>
        <p:spPr>
          <a:xfrm>
            <a:off x="5340000" y="4020000"/>
            <a:ext cx="6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JWT</a:t>
            </a:r>
          </a:p>
        </p:txBody>
      </p:sp>
      <p:sp>
        <p:nvSpPr>
          <p:cNvPr id="277" name="Chip BCrypt"/>
          <p:cNvSpPr/>
          <p:nvPr/>
        </p:nvSpPr>
        <p:spPr>
          <a:xfrm>
            <a:off x="6180000" y="40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BCrypt</a:t>
            </a:r>
          </a:p>
        </p:txBody>
      </p:sp>
      <p:sp>
        <p:nvSpPr>
          <p:cNvPr id="278" name="Chip Role-based access"/>
          <p:cNvSpPr/>
          <p:nvPr/>
        </p:nvSpPr>
        <p:spPr>
          <a:xfrm>
            <a:off x="7320000" y="4020000"/>
            <a:ext cx="20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Role-based access</a:t>
            </a:r>
          </a:p>
        </p:txBody>
      </p:sp>
      <p:sp>
        <p:nvSpPr>
          <p:cNvPr id="279" name="Track AI services"/>
          <p:cNvSpPr/>
          <p:nvPr/>
        </p:nvSpPr>
        <p:spPr>
          <a:xfrm>
            <a:off x="400000" y="47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80" name="Label AI services"/>
          <p:cNvSpPr/>
          <p:nvPr/>
        </p:nvSpPr>
        <p:spPr>
          <a:xfrm>
            <a:off x="400000" y="47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AI services</a:t>
            </a:r>
          </a:p>
        </p:txBody>
      </p:sp>
      <p:sp>
        <p:nvSpPr>
          <p:cNvPr id="281" name="Icon AI services"/>
          <p:cNvSpPr/>
          <p:nvPr/>
        </p:nvSpPr>
        <p:spPr>
          <a:xfrm>
            <a:off x="570000" y="48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E500"/>
                </a:solidFill>
                <a:latin typeface="Arial"/>
                <a:cs typeface="Arial"/>
              </a:rPr>
              <a:t>AI</a:t>
            </a:r>
          </a:p>
        </p:txBody>
      </p:sp>
      <p:sp>
        <p:nvSpPr>
          <p:cNvPr id="282" name="Chip Python"/>
          <p:cNvSpPr/>
          <p:nvPr/>
        </p:nvSpPr>
        <p:spPr>
          <a:xfrm>
            <a:off x="3300000" y="48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Python</a:t>
            </a:r>
          </a:p>
        </p:txBody>
      </p:sp>
      <p:sp>
        <p:nvSpPr>
          <p:cNvPr id="283" name="Chip scikit-learn"/>
          <p:cNvSpPr/>
          <p:nvPr/>
        </p:nvSpPr>
        <p:spPr>
          <a:xfrm>
            <a:off x="4440000" y="48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scikit-learn</a:t>
            </a:r>
          </a:p>
        </p:txBody>
      </p:sp>
      <p:sp>
        <p:nvSpPr>
          <p:cNvPr id="284" name="Chip LLM chatbot API"/>
          <p:cNvSpPr/>
          <p:nvPr/>
        </p:nvSpPr>
        <p:spPr>
          <a:xfrm>
            <a:off x="6180000" y="4820000"/>
            <a:ext cx="1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LLM chatbot API</a:t>
            </a:r>
          </a:p>
        </p:txBody>
      </p:sp>
      <p:sp>
        <p:nvSpPr>
          <p:cNvPr id="285" name="Track DevOps and tools"/>
          <p:cNvSpPr/>
          <p:nvPr/>
        </p:nvSpPr>
        <p:spPr>
          <a:xfrm>
            <a:off x="400000" y="5500000"/>
            <a:ext cx="11392000" cy="700000"/>
          </a:xfrm>
          <a:prstGeom prst="roundRect">
            <a:avLst>
              <a:gd name="adj" fmla="val 20000"/>
            </a:avLst>
          </a:prstGeom>
          <a:solidFill>
            <a:srgbClr val="F1F3F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286" name="Label DevOps and tools"/>
          <p:cNvSpPr/>
          <p:nvPr/>
        </p:nvSpPr>
        <p:spPr>
          <a:xfrm>
            <a:off x="400000" y="5500000"/>
            <a:ext cx="2700000" cy="700000"/>
          </a:xfrm>
          <a:prstGeom prst="roundRect">
            <a:avLst>
              <a:gd name="adj" fmla="val 20000"/>
            </a:avLst>
          </a:prstGeom>
          <a:solidFill>
            <a:srgbClr val="213163"/>
          </a:solidFill>
          <a:ln>
            <a:noFill/>
          </a:ln>
        </p:spPr>
        <p:txBody>
          <a:bodyPr wrap="square" lIns="900000" tIns="0" rIns="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/>
                <a:cs typeface="Arial"/>
              </a:rPr>
              <a:t>DevOps and tools</a:t>
            </a:r>
          </a:p>
        </p:txBody>
      </p:sp>
      <p:sp>
        <p:nvSpPr>
          <p:cNvPr id="287" name="Icon DevOps and tools"/>
          <p:cNvSpPr/>
          <p:nvPr/>
        </p:nvSpPr>
        <p:spPr>
          <a:xfrm>
            <a:off x="570000" y="5610000"/>
            <a:ext cx="480000" cy="480000"/>
          </a:xfrm>
          <a:prstGeom prst="ellipse">
            <a:avLst/>
          </a:prstGeom>
          <a:solidFill>
            <a:srgbClr val="2131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DEV</a:t>
            </a:r>
          </a:p>
        </p:txBody>
      </p:sp>
      <p:sp>
        <p:nvSpPr>
          <p:cNvPr id="288" name="Chip Git / GitHub"/>
          <p:cNvSpPr/>
          <p:nvPr/>
        </p:nvSpPr>
        <p:spPr>
          <a:xfrm>
            <a:off x="3300000" y="5620000"/>
            <a:ext cx="1580000" cy="4600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Git / GitHub</a:t>
            </a:r>
          </a:p>
        </p:txBody>
      </p:sp>
      <p:sp>
        <p:nvSpPr>
          <p:cNvPr id="289" name="Chip Maven"/>
          <p:cNvSpPr/>
          <p:nvPr/>
        </p:nvSpPr>
        <p:spPr>
          <a:xfrm>
            <a:off x="5040000" y="5620000"/>
            <a:ext cx="8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Maven</a:t>
            </a:r>
          </a:p>
        </p:txBody>
      </p:sp>
      <p:sp>
        <p:nvSpPr>
          <p:cNvPr id="290" name="Chip Postman"/>
          <p:cNvSpPr/>
          <p:nvPr/>
        </p:nvSpPr>
        <p:spPr>
          <a:xfrm>
            <a:off x="6080000" y="5620000"/>
            <a:ext cx="10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Postman</a:t>
            </a:r>
          </a:p>
        </p:txBody>
      </p:sp>
      <p:sp>
        <p:nvSpPr>
          <p:cNvPr id="291" name="Chip Docker"/>
          <p:cNvSpPr/>
          <p:nvPr/>
        </p:nvSpPr>
        <p:spPr>
          <a:xfrm>
            <a:off x="7320000" y="5620000"/>
            <a:ext cx="980000" cy="4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1316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System Architecture</a:t>
            </a:r>
          </a:p>
        </p:txBody>
      </p:sp>
      <p:sp>
        <p:nvSpPr>
          <p:cNvPr id="292" name="Users box"/>
          <p:cNvSpPr/>
          <p:nvPr/>
        </p:nvSpPr>
        <p:spPr>
          <a:xfrm>
            <a:off x="400000" y="1500000"/>
            <a:ext cx="1700000" cy="2700000"/>
          </a:xfrm>
          <a:prstGeom prst="roundRect">
            <a:avLst>
              <a:gd name="adj" fmla="val 6000"/>
            </a:avLst>
          </a:prstGeom>
          <a:solidFill>
            <a:srgbClr val="EAF0FB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Users</a:t>
            </a:r>
          </a:p>
          <a:p>
            <a:pPr marL="0" indent="0" algn="l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Students</a:t>
            </a:r>
          </a:p>
          <a:p>
            <a:pPr marL="0" indent="0" algn="l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Organizers</a:t>
            </a:r>
          </a:p>
          <a:p>
            <a:pPr marL="0" indent="0" algn="l">
              <a:spcBef>
                <a:spcPts val="11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Administrators</a:t>
            </a:r>
          </a:p>
        </p:txBody>
      </p:sp>
      <p:sp>
        <p:nvSpPr>
          <p:cNvPr id="293" name="Client box"/>
          <p:cNvSpPr/>
          <p:nvPr/>
        </p:nvSpPr>
        <p:spPr>
          <a:xfrm>
            <a:off x="2900000" y="1500000"/>
            <a:ext cx="2100000" cy="2700000"/>
          </a:xfrm>
          <a:prstGeom prst="roundRect">
            <a:avLst>
              <a:gd name="adj" fmla="val 6000"/>
            </a:avLst>
          </a:prstGeom>
          <a:solidFill>
            <a:srgbClr val="213163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Web client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React.js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Event browser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Tickets and QR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Admin dashboard</a:t>
            </a:r>
          </a:p>
        </p:txBody>
      </p:sp>
      <p:sp>
        <p:nvSpPr>
          <p:cNvPr id="294" name="API box"/>
          <p:cNvSpPr/>
          <p:nvPr/>
        </p:nvSpPr>
        <p:spPr>
          <a:xfrm>
            <a:off x="5800000" y="1500000"/>
            <a:ext cx="3300000" cy="2700000"/>
          </a:xfrm>
          <a:prstGeom prst="roundRect">
            <a:avLst>
              <a:gd name="adj" fmla="val 4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20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Spring Boot REST API</a:t>
            </a:r>
          </a:p>
        </p:txBody>
      </p:sp>
      <p:sp>
        <p:nvSpPr>
          <p:cNvPr id="295" name="Module Auth (JWT)"/>
          <p:cNvSpPr/>
          <p:nvPr/>
        </p:nvSpPr>
        <p:spPr>
          <a:xfrm>
            <a:off x="5950000" y="230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Auth (JWT)</a:t>
            </a:r>
          </a:p>
        </p:txBody>
      </p:sp>
      <p:sp>
        <p:nvSpPr>
          <p:cNvPr id="296" name="Module Events"/>
          <p:cNvSpPr/>
          <p:nvPr/>
        </p:nvSpPr>
        <p:spPr>
          <a:xfrm>
            <a:off x="7500000" y="230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Events</a:t>
            </a:r>
          </a:p>
        </p:txBody>
      </p:sp>
      <p:sp>
        <p:nvSpPr>
          <p:cNvPr id="297" name="Module Registration"/>
          <p:cNvSpPr/>
          <p:nvPr/>
        </p:nvSpPr>
        <p:spPr>
          <a:xfrm>
            <a:off x="5950000" y="286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Registration</a:t>
            </a:r>
          </a:p>
        </p:txBody>
      </p:sp>
      <p:sp>
        <p:nvSpPr>
          <p:cNvPr id="298" name="Module Check-in"/>
          <p:cNvSpPr/>
          <p:nvPr/>
        </p:nvSpPr>
        <p:spPr>
          <a:xfrm>
            <a:off x="7500000" y="286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Check-in</a:t>
            </a:r>
          </a:p>
        </p:txBody>
      </p:sp>
      <p:sp>
        <p:nvSpPr>
          <p:cNvPr id="299" name="Module Notifications"/>
          <p:cNvSpPr/>
          <p:nvPr/>
        </p:nvSpPr>
        <p:spPr>
          <a:xfrm>
            <a:off x="5950000" y="342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Notifications</a:t>
            </a:r>
          </a:p>
        </p:txBody>
      </p:sp>
      <p:sp>
        <p:nvSpPr>
          <p:cNvPr id="300" name="Module Reports"/>
          <p:cNvSpPr/>
          <p:nvPr/>
        </p:nvSpPr>
        <p:spPr>
          <a:xfrm>
            <a:off x="7500000" y="3420000"/>
            <a:ext cx="1450000" cy="4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13163"/>
                </a:solidFill>
                <a:latin typeface="Arial"/>
                <a:cs typeface="Arial"/>
              </a:rPr>
              <a:t>Reports</a:t>
            </a:r>
          </a:p>
        </p:txBody>
      </p:sp>
      <p:sp>
        <p:nvSpPr>
          <p:cNvPr id="301" name="DB box"/>
          <p:cNvSpPr/>
          <p:nvPr/>
        </p:nvSpPr>
        <p:spPr>
          <a:xfrm>
            <a:off x="9800000" y="1500000"/>
            <a:ext cx="1992000" cy="2700000"/>
          </a:xfrm>
          <a:prstGeom prst="can">
            <a:avLst/>
          </a:prstGeom>
          <a:solidFill>
            <a:srgbClr val="213163"/>
          </a:solidFill>
          <a:ln>
            <a:noFill/>
          </a:ln>
        </p:spPr>
        <p:txBody>
          <a:bodyPr wrap="square" lIns="60000" tIns="300000" rIns="60000" bIns="6000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MySQL</a:t>
            </a:r>
          </a:p>
          <a:p>
            <a:pPr marL="0" indent="0" algn="ctr">
              <a:spcBef>
                <a:spcPts val="7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Users, events,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registrations,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attendance,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400" b="0" i="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</a:p>
        </p:txBody>
      </p:sp>
      <p:sp>
        <p:nvSpPr>
          <p:cNvPr id="302" name="Arrow HTTPS"/>
          <p:cNvSpPr/>
          <p:nvPr/>
        </p:nvSpPr>
        <p:spPr>
          <a:xfrm>
            <a:off x="225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3" name="Label HTTPS"/>
          <p:cNvSpPr txBox="1"/>
          <p:nvPr/>
        </p:nvSpPr>
        <p:spPr>
          <a:xfrm>
            <a:off x="2100000" y="233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HTTPS</a:t>
            </a:r>
          </a:p>
        </p:txBody>
      </p:sp>
      <p:sp>
        <p:nvSpPr>
          <p:cNvPr id="304" name="Arrow REST / JSON"/>
          <p:cNvSpPr/>
          <p:nvPr/>
        </p:nvSpPr>
        <p:spPr>
          <a:xfrm>
            <a:off x="515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5" name="Label REST / JSON"/>
          <p:cNvSpPr txBox="1"/>
          <p:nvPr/>
        </p:nvSpPr>
        <p:spPr>
          <a:xfrm>
            <a:off x="5000000" y="233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REST / JSON</a:t>
            </a:r>
          </a:p>
        </p:txBody>
      </p:sp>
      <p:sp>
        <p:nvSpPr>
          <p:cNvPr id="306" name="Arrow JPA"/>
          <p:cNvSpPr/>
          <p:nvPr/>
        </p:nvSpPr>
        <p:spPr>
          <a:xfrm>
            <a:off x="9200000" y="2680000"/>
            <a:ext cx="500000" cy="340000"/>
          </a:xfrm>
          <a:prstGeom prst="right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7" name="Label JPA"/>
          <p:cNvSpPr txBox="1"/>
          <p:nvPr/>
        </p:nvSpPr>
        <p:spPr>
          <a:xfrm>
            <a:off x="9100000" y="23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JPA</a:t>
            </a:r>
          </a:p>
        </p:txBody>
      </p:sp>
      <p:sp>
        <p:nvSpPr>
          <p:cNvPr id="308" name="Arrow API to services 1"/>
          <p:cNvSpPr/>
          <p:nvPr/>
        </p:nvSpPr>
        <p:spPr>
          <a:xfrm>
            <a:off x="6900000" y="4230000"/>
            <a:ext cx="300000" cy="300000"/>
          </a:xfrm>
          <a:prstGeom prst="up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09" name="Arrow API to services 2"/>
          <p:cNvSpPr/>
          <p:nvPr/>
        </p:nvSpPr>
        <p:spPr>
          <a:xfrm>
            <a:off x="8800000" y="4230000"/>
            <a:ext cx="300000" cy="300000"/>
          </a:xfrm>
          <a:prstGeom prst="up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10" name="AI service"/>
          <p:cNvSpPr/>
          <p:nvPr/>
        </p:nvSpPr>
        <p:spPr>
          <a:xfrm>
            <a:off x="5800000" y="4550000"/>
            <a:ext cx="2800000" cy="125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AI service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Recommender and chatbot</a:t>
            </a:r>
          </a:p>
        </p:txBody>
      </p:sp>
      <p:sp>
        <p:nvSpPr>
          <p:cNvPr id="311" name="Notification service"/>
          <p:cNvSpPr/>
          <p:nvPr/>
        </p:nvSpPr>
        <p:spPr>
          <a:xfrm>
            <a:off x="8800000" y="4550000"/>
            <a:ext cx="2992000" cy="125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E500"/>
                </a:solidFill>
                <a:latin typeface="Arial"/>
                <a:cs typeface="Arial"/>
              </a:rPr>
              <a:t>Notification gateway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FFFFFF"/>
                </a:solidFill>
                <a:latin typeface="Arial"/>
                <a:cs typeface="Arial"/>
              </a:rPr>
              <a:t>Email and SMS alerts</a:t>
            </a:r>
          </a:p>
        </p:txBody>
      </p:sp>
      <p:sp>
        <p:nvSpPr>
          <p:cNvPr id="312" name="Typical flow"/>
          <p:cNvSpPr/>
          <p:nvPr/>
        </p:nvSpPr>
        <p:spPr>
          <a:xfrm>
            <a:off x="400000" y="4550000"/>
            <a:ext cx="5200000" cy="125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60000" tIns="170000" rIns="1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Typical flow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Browse  &gt;  Register  &gt;  QR ticket  &gt;  Check-in  &gt; 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Expected Results</a:t>
            </a:r>
          </a:p>
        </p:txBody>
      </p:sp>
      <p:sp>
        <p:nvSpPr>
          <p:cNvPr id="313" name="Head Discovery"/>
          <p:cNvSpPr/>
          <p:nvPr/>
        </p:nvSpPr>
        <p:spPr>
          <a:xfrm>
            <a:off x="400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Discovery</a:t>
            </a:r>
          </a:p>
        </p:txBody>
      </p:sp>
      <p:sp>
        <p:nvSpPr>
          <p:cNvPr id="314" name="Before Discovery"/>
          <p:cNvSpPr/>
          <p:nvPr/>
        </p:nvSpPr>
        <p:spPr>
          <a:xfrm>
            <a:off x="400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Posters and chat groups; many students miss events</a:t>
            </a:r>
          </a:p>
        </p:txBody>
      </p:sp>
      <p:sp>
        <p:nvSpPr>
          <p:cNvPr id="315" name="Arrow Discovery"/>
          <p:cNvSpPr/>
          <p:nvPr/>
        </p:nvSpPr>
        <p:spPr>
          <a:xfrm>
            <a:off x="1549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16" name="After Discovery"/>
          <p:cNvSpPr/>
          <p:nvPr/>
        </p:nvSpPr>
        <p:spPr>
          <a:xfrm>
            <a:off x="400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One searchable portal with filters and alerts</a:t>
            </a:r>
          </a:p>
        </p:txBody>
      </p:sp>
      <p:sp>
        <p:nvSpPr>
          <p:cNvPr id="317" name="Head Registration"/>
          <p:cNvSpPr/>
          <p:nvPr/>
        </p:nvSpPr>
        <p:spPr>
          <a:xfrm>
            <a:off x="3298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Registration</a:t>
            </a:r>
          </a:p>
        </p:txBody>
      </p:sp>
      <p:sp>
        <p:nvSpPr>
          <p:cNvPr id="318" name="Before Registration"/>
          <p:cNvSpPr/>
          <p:nvPr/>
        </p:nvSpPr>
        <p:spPr>
          <a:xfrm>
            <a:off x="3298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Paper forms and spreadsheets</a:t>
            </a:r>
          </a:p>
        </p:txBody>
      </p:sp>
      <p:sp>
        <p:nvSpPr>
          <p:cNvPr id="319" name="Arrow Registration"/>
          <p:cNvSpPr/>
          <p:nvPr/>
        </p:nvSpPr>
        <p:spPr>
          <a:xfrm>
            <a:off x="4447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0" name="After Registration"/>
          <p:cNvSpPr/>
          <p:nvPr/>
        </p:nvSpPr>
        <p:spPr>
          <a:xfrm>
            <a:off x="3298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One-click sign-up with seat and waitlist control</a:t>
            </a:r>
          </a:p>
        </p:txBody>
      </p:sp>
      <p:sp>
        <p:nvSpPr>
          <p:cNvPr id="321" name="Head Attendance"/>
          <p:cNvSpPr/>
          <p:nvPr/>
        </p:nvSpPr>
        <p:spPr>
          <a:xfrm>
            <a:off x="6196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Attendance</a:t>
            </a:r>
          </a:p>
        </p:txBody>
      </p:sp>
      <p:sp>
        <p:nvSpPr>
          <p:cNvPr id="322" name="Before Attendance"/>
          <p:cNvSpPr/>
          <p:nvPr/>
        </p:nvSpPr>
        <p:spPr>
          <a:xfrm>
            <a:off x="6196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Manual sign-in sheets</a:t>
            </a:r>
          </a:p>
        </p:txBody>
      </p:sp>
      <p:sp>
        <p:nvSpPr>
          <p:cNvPr id="323" name="Arrow Attendance"/>
          <p:cNvSpPr/>
          <p:nvPr/>
        </p:nvSpPr>
        <p:spPr>
          <a:xfrm>
            <a:off x="7345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4" name="After Attendance"/>
          <p:cNvSpPr/>
          <p:nvPr/>
        </p:nvSpPr>
        <p:spPr>
          <a:xfrm>
            <a:off x="6196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QR check-in with instant, verified records</a:t>
            </a:r>
          </a:p>
        </p:txBody>
      </p:sp>
      <p:sp>
        <p:nvSpPr>
          <p:cNvPr id="325" name="Head Feedback"/>
          <p:cNvSpPr/>
          <p:nvPr/>
        </p:nvSpPr>
        <p:spPr>
          <a:xfrm>
            <a:off x="9094000" y="1450000"/>
            <a:ext cx="2698000" cy="600000"/>
          </a:xfrm>
          <a:prstGeom prst="roundRect">
            <a:avLst>
              <a:gd name="adj" fmla="val 30000"/>
            </a:avLst>
          </a:prstGeom>
          <a:solidFill>
            <a:srgbClr val="21316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</a:p>
        </p:txBody>
      </p:sp>
      <p:sp>
        <p:nvSpPr>
          <p:cNvPr id="326" name="Before Feedback"/>
          <p:cNvSpPr/>
          <p:nvPr/>
        </p:nvSpPr>
        <p:spPr>
          <a:xfrm>
            <a:off x="9094000" y="2200000"/>
            <a:ext cx="2698000" cy="1300000"/>
          </a:xfrm>
          <a:prstGeom prst="roundRect">
            <a:avLst>
              <a:gd name="adj" fmla="val 8000"/>
            </a:avLst>
          </a:prstGeom>
          <a:solidFill>
            <a:srgbClr val="F1F3F8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5B6478"/>
                </a:solidFill>
                <a:latin typeface="Arial"/>
                <a:cs typeface="Arial"/>
              </a:rPr>
              <a:t>BEFORE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0" i="0" dirty="0">
                <a:solidFill>
                  <a:srgbClr val="2B2F3A"/>
                </a:solidFill>
                <a:latin typeface="Arial"/>
                <a:cs typeface="Arial"/>
              </a:rPr>
              <a:t>Rare and paper-based</a:t>
            </a:r>
          </a:p>
        </p:txBody>
      </p:sp>
      <p:sp>
        <p:nvSpPr>
          <p:cNvPr id="327" name="Arrow Feedback"/>
          <p:cNvSpPr/>
          <p:nvPr/>
        </p:nvSpPr>
        <p:spPr>
          <a:xfrm>
            <a:off x="10243000" y="3560000"/>
            <a:ext cx="400000" cy="330000"/>
          </a:xfrm>
          <a:prstGeom prst="downArrow">
            <a:avLst/>
          </a:prstGeom>
          <a:solidFill>
            <a:srgbClr val="5B6478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sz="1000"/>
          </a:p>
        </p:txBody>
      </p:sp>
      <p:sp>
        <p:nvSpPr>
          <p:cNvPr id="328" name="After Feedback"/>
          <p:cNvSpPr/>
          <p:nvPr/>
        </p:nvSpPr>
        <p:spPr>
          <a:xfrm>
            <a:off x="9094000" y="3950000"/>
            <a:ext cx="2698000" cy="1400000"/>
          </a:xfrm>
          <a:prstGeom prst="roundRect">
            <a:avLst>
              <a:gd name="adj" fmla="val 8000"/>
            </a:avLst>
          </a:prstGeom>
          <a:solidFill>
            <a:srgbClr val="034977"/>
          </a:solidFill>
          <a:ln>
            <a:noFill/>
          </a:ln>
        </p:spPr>
        <p:txBody>
          <a:bodyPr wrap="square" lIns="170000" tIns="150000" rIns="120000" bIns="8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E500"/>
                </a:solidFill>
                <a:latin typeface="Arial"/>
                <a:cs typeface="Arial"/>
              </a:rPr>
              <a:t>AFTER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Arial"/>
                <a:cs typeface="Arial"/>
              </a:rPr>
              <a:t>Automated surveys, e-certificates and dashboards</a:t>
            </a:r>
          </a:p>
        </p:txBody>
      </p:sp>
      <p:sp>
        <p:nvSpPr>
          <p:cNvPr id="329" name="Outcome banner"/>
          <p:cNvSpPr/>
          <p:nvPr/>
        </p:nvSpPr>
        <p:spPr>
          <a:xfrm>
            <a:off x="400000" y="5550000"/>
            <a:ext cx="11392000" cy="650000"/>
          </a:xfrm>
          <a:prstGeom prst="roundRect">
            <a:avLst>
              <a:gd name="adj" fmla="val 20000"/>
            </a:avLst>
          </a:prstGeom>
          <a:solidFill>
            <a:srgbClr val="FFE500"/>
          </a:solidFill>
          <a:ln>
            <a:noFill/>
          </a:ln>
        </p:spPr>
        <p:txBody>
          <a:bodyPr wrap="square" lIns="228600" tIns="45720" rIns="228600" bIns="45720" rtlCol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13163"/>
                </a:solidFill>
                <a:latin typeface="Arial"/>
                <a:cs typeface="Arial"/>
              </a:rPr>
              <a:t>Outcome: </a:t>
            </a:r>
            <a:r>
              <a:rPr lang="en-US" sz="1600" b="0" i="0" dirty="0">
                <a:solidFill>
                  <a:srgbClr val="213163"/>
                </a:solidFill>
                <a:latin typeface="Arial"/>
                <a:cs typeface="Arial"/>
              </a:rPr>
              <a:t>less manual effort for organizers, higher student participation and data-driven event planning.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A0901C30-ADD5-989C-879E-1983191DD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Conclusion</a:t>
            </a:r>
          </a:p>
        </p:txBody>
      </p:sp>
      <p:sp>
        <p:nvSpPr>
          <p:cNvPr id="330" name="Conclusion card"/>
          <p:cNvSpPr/>
          <p:nvPr/>
        </p:nvSpPr>
        <p:spPr>
          <a:xfrm>
            <a:off x="400000" y="1500000"/>
            <a:ext cx="5571000" cy="4650000"/>
          </a:xfrm>
          <a:prstGeom prst="roundRect">
            <a:avLst>
              <a:gd name="adj" fmla="val 5000"/>
            </a:avLst>
          </a:prstGeom>
          <a:solidFill>
            <a:srgbClr val="213163"/>
          </a:solidFill>
          <a:ln>
            <a:noFill/>
          </a:ln>
        </p:spPr>
        <p:txBody>
          <a:bodyPr wrap="square" lIns="300000" tIns="280000" rIns="250000" bIns="15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E500"/>
                </a:solidFill>
                <a:latin typeface="Arial"/>
                <a:cs typeface="Arial"/>
              </a:rPr>
              <a:t>Conclusion</a:t>
            </a:r>
          </a:p>
          <a:p>
            <a:pPr marL="285750" indent="-285750" algn="l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One platform now covers event discovery, registration, attendance and feedback.</a:t>
            </a:r>
          </a:p>
          <a:p>
            <a:pPr marL="285750" indent="-285750" algn="l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Organizers and admins spend far less time on manual coordination.</a:t>
            </a:r>
          </a:p>
          <a:p>
            <a:pPr marL="285750" indent="-285750" algn="l">
              <a:spcBef>
                <a:spcPts val="1800"/>
              </a:spcBef>
              <a:buClr>
                <a:srgbClr val="FFE500"/>
              </a:buClr>
              <a:buFont typeface="Arial"/>
              <a:buChar char="•"/>
            </a:pPr>
            <a:r>
              <a:rPr lang="en-US" sz="2000" b="0" i="0" dirty="0">
                <a:solidFill>
                  <a:srgbClr val="FFFFFF"/>
                </a:solidFill>
                <a:latin typeface="Arial"/>
                <a:cs typeface="Arial"/>
              </a:rPr>
              <a:t>Students get a single, reliable place to follow campus life.</a:t>
            </a:r>
          </a:p>
        </p:txBody>
      </p:sp>
      <p:sp>
        <p:nvSpPr>
          <p:cNvPr id="331" name="Future scope card"/>
          <p:cNvSpPr/>
          <p:nvPr/>
        </p:nvSpPr>
        <p:spPr>
          <a:xfrm>
            <a:off x="6221000" y="1500000"/>
            <a:ext cx="5571000" cy="465000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>
            <a:noFill/>
          </a:ln>
        </p:spPr>
        <p:txBody>
          <a:bodyPr wrap="square" lIns="300000" tIns="280000" rIns="250000" bIns="15000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213163"/>
                </a:solidFill>
                <a:latin typeface="Arial"/>
                <a:cs typeface="Arial"/>
              </a:rPr>
              <a:t>Future Scope</a:t>
            </a:r>
          </a:p>
          <a:p>
            <a:pPr marL="285750" indent="-285750" algn="l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Native mobile app with push notifications</a:t>
            </a:r>
          </a:p>
          <a:p>
            <a:pPr marL="285750" indent="-285750" algn="l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Integration with college ERP and ID cards</a:t>
            </a:r>
          </a:p>
          <a:p>
            <a:pPr marL="285750" indent="-285750" algn="l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Auto-generated participation e-certificates</a:t>
            </a:r>
          </a:p>
          <a:p>
            <a:pPr marL="285750" indent="-285750" algn="l">
              <a:spcBef>
                <a:spcPts val="1800"/>
              </a:spcBef>
              <a:buClr>
                <a:srgbClr val="21316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F3A"/>
                </a:solidFill>
                <a:latin typeface="Arial"/>
                <a:cs typeface="Arial"/>
              </a:rPr>
              <a:t>Predictive analytics for attendance and venue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R</a:t>
            </a:r>
            <a:r>
              <a:rPr lang="en-IN" sz="2000" b="1" dirty="0" err="1">
                <a:solidFill>
                  <a:srgbClr val="213163"/>
                </a:solidFill>
              </a:rPr>
              <a:t>eferences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266686" y="1295647"/>
            <a:ext cx="8898173" cy="505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4"/>
              </a:rPr>
              <a:t>https://spring.io/projects/spring-boot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5"/>
              </a:rPr>
              <a:t>https://docs.spring.io/spring-security/reference/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6"/>
              </a:rPr>
              <a:t>https://react.dev/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7"/>
              </a:rPr>
              <a:t>https://dev.mysql.com/doc/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8"/>
              </a:rPr>
              <a:t>https://jwt.io/introduction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9162bd5b-4ed9-4da3-b376-05204580ba3f"/>
    <ds:schemaRef ds:uri="http://purl.org/dc/elements/1.1/"/>
    <ds:schemaRef ds:uri="c0fa2617-96bd-425d-8578-e93563fe37c5"/>
    <ds:schemaRef ds:uri="http://schemas.microsoft.com/office/infopath/2007/PartnerControls"/>
    <ds:schemaRef ds:uri="http://purl.org/dc/dcmitype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1102</Words>
  <Application>Microsoft Office PowerPoint</Application>
  <PresentationFormat>Widescreen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Simple Light</vt:lpstr>
      <vt:lpstr>PowerPoint Presentation</vt:lpstr>
      <vt:lpstr>PowerPoint Presentation</vt:lpstr>
      <vt:lpstr>PowerPoint Presentation</vt:lpstr>
      <vt:lpstr>Table of Contents</vt:lpstr>
      <vt:lpstr>Problem Statement</vt:lpstr>
      <vt:lpstr>Project Overview</vt:lpstr>
      <vt:lpstr>Proposed Solution</vt:lpstr>
      <vt:lpstr>Technology Used</vt:lpstr>
      <vt:lpstr>System Architecture</vt:lpstr>
      <vt:lpstr>Expected 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Event Platform</dc:title>
  <dc:creator>Helvin Mg</dc:creator>
  <cp:lastModifiedBy>Harshith Reddy</cp:lastModifiedBy>
  <cp:revision>28</cp:revision>
  <dcterms:modified xsi:type="dcterms:W3CDTF">2026-10-07T09:29:48Z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